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5" r:id="rId1"/>
  </p:sldMasterIdLst>
  <p:sldIdLst>
    <p:sldId id="256" r:id="rId2"/>
    <p:sldId id="257" r:id="rId3"/>
    <p:sldId id="258" r:id="rId4"/>
    <p:sldId id="259" r:id="rId5"/>
    <p:sldId id="260" r:id="rId6"/>
    <p:sldId id="261" r:id="rId7"/>
    <p:sldId id="262" r:id="rId8"/>
    <p:sldId id="263" r:id="rId9"/>
    <p:sldId id="269" r:id="rId10"/>
    <p:sldId id="264" r:id="rId11"/>
    <p:sldId id="265" r:id="rId12"/>
    <p:sldId id="266" r:id="rId13"/>
    <p:sldId id="267" r:id="rId14"/>
    <p:sldId id="268" r:id="rId15"/>
    <p:sldId id="270" r:id="rId16"/>
    <p:sldId id="271" r:id="rId17"/>
    <p:sldId id="272" r:id="rId18"/>
    <p:sldId id="275" r:id="rId19"/>
    <p:sldId id="273" r:id="rId20"/>
    <p:sldId id="276" r:id="rId21"/>
    <p:sldId id="274" r:id="rId22"/>
    <p:sldId id="277" r:id="rId23"/>
    <p:sldId id="278" r:id="rId24"/>
    <p:sldId id="279" r:id="rId25"/>
    <p:sldId id="283" r:id="rId26"/>
    <p:sldId id="307" r:id="rId27"/>
    <p:sldId id="280" r:id="rId28"/>
    <p:sldId id="284" r:id="rId29"/>
    <p:sldId id="281" r:id="rId30"/>
    <p:sldId id="282" r:id="rId31"/>
    <p:sldId id="285" r:id="rId32"/>
    <p:sldId id="286" r:id="rId33"/>
    <p:sldId id="290" r:id="rId34"/>
    <p:sldId id="291" r:id="rId35"/>
    <p:sldId id="292" r:id="rId36"/>
    <p:sldId id="293" r:id="rId37"/>
    <p:sldId id="294" r:id="rId38"/>
    <p:sldId id="295" r:id="rId39"/>
    <p:sldId id="297" r:id="rId40"/>
    <p:sldId id="298" r:id="rId41"/>
    <p:sldId id="299" r:id="rId42"/>
    <p:sldId id="300" r:id="rId43"/>
    <p:sldId id="301" r:id="rId44"/>
    <p:sldId id="303" r:id="rId45"/>
    <p:sldId id="304" r:id="rId46"/>
    <p:sldId id="308" r:id="rId47"/>
    <p:sldId id="306" r:id="rId48"/>
    <p:sldId id="314" r:id="rId49"/>
    <p:sldId id="302" r:id="rId50"/>
    <p:sldId id="310" r:id="rId51"/>
    <p:sldId id="309" r:id="rId52"/>
    <p:sldId id="315" r:id="rId53"/>
    <p:sldId id="316" r:id="rId5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4" name="Rectangle 3"/>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03504" y="770467"/>
            <a:ext cx="10782300" cy="3352800"/>
          </a:xfrm>
        </p:spPr>
        <p:txBody>
          <a:bodyPr anchor="b">
            <a:noAutofit/>
          </a:bodyPr>
          <a:lstStyle>
            <a:lvl1pPr algn="l">
              <a:lnSpc>
                <a:spcPct val="80000"/>
              </a:lnSpc>
              <a:defRPr sz="8800" spc="-12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667512" y="4206876"/>
            <a:ext cx="9228201" cy="1645920"/>
          </a:xfrm>
        </p:spPr>
        <p:txBody>
          <a:bodyPr>
            <a:normAutofit/>
          </a:bodyPr>
          <a:lstStyle>
            <a:lvl1pPr marL="0" indent="0" algn="l">
              <a:buNone/>
              <a:defRPr sz="3200">
                <a:solidFill>
                  <a:schemeClr val="bg1"/>
                </a:solidFill>
                <a:latin typeface="+mj-lt"/>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lvl1pPr>
              <a:defRPr>
                <a:solidFill>
                  <a:srgbClr val="FFFFFF">
                    <a:alpha val="80000"/>
                  </a:srgbClr>
                </a:solidFill>
              </a:defRPr>
            </a:lvl1pPr>
          </a:lstStyle>
          <a:p>
            <a:fld id="{8B14046F-EC5D-4934-A5DC-A723370022E6}" type="datetimeFigureOut">
              <a:rPr lang="en-IN" smtClean="0"/>
              <a:t>02-09-2025</a:t>
            </a:fld>
            <a:endParaRPr lang="en-IN"/>
          </a:p>
        </p:txBody>
      </p:sp>
      <p:sp>
        <p:nvSpPr>
          <p:cNvPr id="8" name="Footer Placeholder 7"/>
          <p:cNvSpPr>
            <a:spLocks noGrp="1"/>
          </p:cNvSpPr>
          <p:nvPr>
            <p:ph type="ftr" sz="quarter" idx="11"/>
          </p:nvPr>
        </p:nvSpPr>
        <p:spPr/>
        <p:txBody>
          <a:bodyPr/>
          <a:lstStyle>
            <a:lvl1pPr>
              <a:defRPr>
                <a:solidFill>
                  <a:srgbClr val="FFFFFF">
                    <a:alpha val="80000"/>
                  </a:srgbClr>
                </a:solidFill>
              </a:defRPr>
            </a:lvl1pPr>
          </a:lstStyle>
          <a:p>
            <a:endParaRPr lang="en-IN"/>
          </a:p>
        </p:txBody>
      </p:sp>
      <p:sp>
        <p:nvSpPr>
          <p:cNvPr id="9" name="Slide Number Placeholder 8"/>
          <p:cNvSpPr>
            <a:spLocks noGrp="1"/>
          </p:cNvSpPr>
          <p:nvPr>
            <p:ph type="sldNum" sz="quarter" idx="12"/>
          </p:nvPr>
        </p:nvSpPr>
        <p:spPr/>
        <p:txBody>
          <a:bodyPr/>
          <a:lstStyle>
            <a:lvl1pPr>
              <a:defRPr>
                <a:solidFill>
                  <a:srgbClr val="FFFFFF">
                    <a:alpha val="25000"/>
                  </a:srgbClr>
                </a:solidFill>
              </a:defRPr>
            </a:lvl1pPr>
          </a:lstStyle>
          <a:p>
            <a:fld id="{C096E668-8C79-445D-A788-2413BE8D8F25}" type="slidenum">
              <a:rPr lang="en-IN" smtClean="0"/>
              <a:t>‹#›</a:t>
            </a:fld>
            <a:endParaRPr lang="en-IN"/>
          </a:p>
        </p:txBody>
      </p:sp>
    </p:spTree>
    <p:extLst>
      <p:ext uri="{BB962C8B-B14F-4D97-AF65-F5344CB8AC3E}">
        <p14:creationId xmlns:p14="http://schemas.microsoft.com/office/powerpoint/2010/main" val="26834145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B14046F-EC5D-4934-A5DC-A723370022E6}" type="datetimeFigureOut">
              <a:rPr lang="en-IN" smtClean="0"/>
              <a:t>02-09-2025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096E668-8C79-445D-A788-2413BE8D8F25}" type="slidenum">
              <a:rPr lang="en-IN" smtClean="0"/>
              <a:t>‹#›</a:t>
            </a:fld>
            <a:endParaRPr lang="en-IN"/>
          </a:p>
        </p:txBody>
      </p:sp>
    </p:spTree>
    <p:extLst>
      <p:ext uri="{BB962C8B-B14F-4D97-AF65-F5344CB8AC3E}">
        <p14:creationId xmlns:p14="http://schemas.microsoft.com/office/powerpoint/2010/main" val="18305679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3504" y="767419"/>
            <a:ext cx="10780776" cy="3355848"/>
          </a:xfrm>
        </p:spPr>
        <p:txBody>
          <a:bodyPr anchor="b">
            <a:normAutofit/>
          </a:bodyPr>
          <a:lstStyle>
            <a:lvl1pPr>
              <a:lnSpc>
                <a:spcPct val="80000"/>
              </a:lnSpc>
              <a:defRPr sz="8800" b="0" baseline="0">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667512" y="4204209"/>
            <a:ext cx="9226296" cy="1645920"/>
          </a:xfrm>
        </p:spPr>
        <p:txBody>
          <a:bodyPr anchor="t">
            <a:normAutofit/>
          </a:bodyPr>
          <a:lstStyle>
            <a:lvl1pPr marL="0" indent="0">
              <a:buNone/>
              <a:defRPr sz="3200">
                <a:solidFill>
                  <a:schemeClr val="tx1"/>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B14046F-EC5D-4934-A5DC-A723370022E6}" type="datetimeFigureOut">
              <a:rPr lang="en-IN" smtClean="0"/>
              <a:t>02-09-2025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096E668-8C79-445D-A788-2413BE8D8F25}" type="slidenum">
              <a:rPr lang="en-IN" smtClean="0"/>
              <a:t>‹#›</a:t>
            </a:fld>
            <a:endParaRPr lang="en-IN"/>
          </a:p>
        </p:txBody>
      </p:sp>
    </p:spTree>
    <p:extLst>
      <p:ext uri="{BB962C8B-B14F-4D97-AF65-F5344CB8AC3E}">
        <p14:creationId xmlns:p14="http://schemas.microsoft.com/office/powerpoint/2010/main" val="25481842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6656"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011330"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B14046F-EC5D-4934-A5DC-A723370022E6}" type="datetimeFigureOut">
              <a:rPr lang="en-IN" smtClean="0"/>
              <a:t>02-09-2025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096E668-8C79-445D-A788-2413BE8D8F25}" type="slidenum">
              <a:rPr lang="en-IN" smtClean="0"/>
              <a:t>‹#›</a:t>
            </a:fld>
            <a:endParaRPr lang="en-IN"/>
          </a:p>
        </p:txBody>
      </p:sp>
    </p:spTree>
    <p:extLst>
      <p:ext uri="{BB962C8B-B14F-4D97-AF65-F5344CB8AC3E}">
        <p14:creationId xmlns:p14="http://schemas.microsoft.com/office/powerpoint/2010/main" val="37555720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676656" y="2040467"/>
            <a:ext cx="4663440" cy="723400"/>
          </a:xfrm>
        </p:spPr>
        <p:txBody>
          <a:bodyPr anchor="ctr">
            <a:normAutofit/>
          </a:bodyPr>
          <a:lstStyle>
            <a:lvl1pPr marL="0" indent="0">
              <a:buNone/>
              <a:defRPr sz="2200" b="0" cap="all" baseline="0">
                <a:solidFill>
                  <a:schemeClr val="tx1">
                    <a:lumMod val="85000"/>
                    <a:lumOff val="1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6656" y="2753084"/>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07608" y="2038435"/>
            <a:ext cx="4663440" cy="722376"/>
          </a:xfrm>
        </p:spPr>
        <p:txBody>
          <a:bodyPr anchor="ctr">
            <a:normAutofit/>
          </a:bodyPr>
          <a:lstStyle>
            <a:lvl1pPr marL="0" indent="0">
              <a:buNone/>
              <a:defRPr sz="2200" b="0" cap="all" baseline="0">
                <a:solidFill>
                  <a:schemeClr val="tx1">
                    <a:lumMod val="85000"/>
                    <a:lumOff val="1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007608" y="2750990"/>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B14046F-EC5D-4934-A5DC-A723370022E6}" type="datetimeFigureOut">
              <a:rPr lang="en-IN" smtClean="0"/>
              <a:t>02-09-2025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096E668-8C79-445D-A788-2413BE8D8F25}" type="slidenum">
              <a:rPr lang="en-IN" smtClean="0"/>
              <a:t>‹#›</a:t>
            </a:fld>
            <a:endParaRPr lang="en-IN"/>
          </a:p>
        </p:txBody>
      </p:sp>
    </p:spTree>
    <p:extLst>
      <p:ext uri="{BB962C8B-B14F-4D97-AF65-F5344CB8AC3E}">
        <p14:creationId xmlns:p14="http://schemas.microsoft.com/office/powerpoint/2010/main" val="6008314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B14046F-EC5D-4934-A5DC-A723370022E6}" type="datetimeFigureOut">
              <a:rPr lang="en-IN" smtClean="0"/>
              <a:t>02-09-2025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096E668-8C79-445D-A788-2413BE8D8F25}" type="slidenum">
              <a:rPr lang="en-IN" smtClean="0"/>
              <a:t>‹#›</a:t>
            </a:fld>
            <a:endParaRPr lang="en-IN"/>
          </a:p>
        </p:txBody>
      </p:sp>
    </p:spTree>
    <p:extLst>
      <p:ext uri="{BB962C8B-B14F-4D97-AF65-F5344CB8AC3E}">
        <p14:creationId xmlns:p14="http://schemas.microsoft.com/office/powerpoint/2010/main" val="13198993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B14046F-EC5D-4934-A5DC-A723370022E6}" type="datetimeFigureOut">
              <a:rPr lang="en-IN" smtClean="0"/>
              <a:t>02-09-2025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096E668-8C79-445D-A788-2413BE8D8F25}" type="slidenum">
              <a:rPr lang="en-IN" smtClean="0"/>
              <a:t>‹#›</a:t>
            </a:fld>
            <a:endParaRPr lang="en-IN"/>
          </a:p>
        </p:txBody>
      </p:sp>
    </p:spTree>
    <p:extLst>
      <p:ext uri="{BB962C8B-B14F-4D97-AF65-F5344CB8AC3E}">
        <p14:creationId xmlns:p14="http://schemas.microsoft.com/office/powerpoint/2010/main" val="4572434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Rectangle 1"/>
          <p:cNvSpPr/>
          <p:nvPr/>
        </p:nvSpPr>
        <p:spPr>
          <a:xfrm>
            <a:off x="7620000" y="0"/>
            <a:ext cx="457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9" name="Title 8"/>
          <p:cNvSpPr>
            <a:spLocks noGrp="1"/>
          </p:cNvSpPr>
          <p:nvPr>
            <p:ph type="title"/>
          </p:nvPr>
        </p:nvSpPr>
        <p:spPr>
          <a:xfrm>
            <a:off x="8261404" y="542282"/>
            <a:ext cx="3383280" cy="1920240"/>
          </a:xfrm>
        </p:spPr>
        <p:txBody>
          <a:bodyPr anchor="b">
            <a:noAutofit/>
          </a:bodyPr>
          <a:lstStyle>
            <a:lvl1pPr>
              <a:lnSpc>
                <a:spcPct val="85000"/>
              </a:lnSpc>
              <a:defRPr sz="400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762000" y="762000"/>
            <a:ext cx="6096000" cy="45720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275982" y="2511813"/>
            <a:ext cx="3398520" cy="3126987"/>
          </a:xfrm>
        </p:spPr>
        <p:txBody>
          <a:bodyPr>
            <a:normAutofit/>
          </a:bodyPr>
          <a:lstStyle>
            <a:lvl1pPr marL="0" marR="0" indent="0" algn="l" defTabSz="914400" rtl="0" eaLnBrk="1" fontAlgn="auto" latinLnBrk="0" hangingPunct="1">
              <a:lnSpc>
                <a:spcPct val="100000"/>
              </a:lnSpc>
              <a:spcBef>
                <a:spcPts val="1200"/>
              </a:spcBef>
              <a:spcAft>
                <a:spcPts val="0"/>
              </a:spcAft>
              <a:buClrTx/>
              <a:buSzTx/>
              <a:buFontTx/>
              <a:buNone/>
              <a:tabLst/>
              <a:defRPr sz="1800">
                <a:solidFill>
                  <a:srgbClr val="262626"/>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ts val="1400"/>
              </a:spcBef>
              <a:spcAft>
                <a:spcPts val="0"/>
              </a:spcAft>
              <a:buClrTx/>
              <a:buSzTx/>
              <a:buFontTx/>
              <a:buNone/>
              <a:tabLst/>
              <a:defRPr/>
            </a:pPr>
            <a:r>
              <a:rPr lang="en-US"/>
              <a:t>Click to edit Master text styles</a:t>
            </a:r>
          </a:p>
        </p:txBody>
      </p:sp>
      <p:sp>
        <p:nvSpPr>
          <p:cNvPr id="5" name="Date Placeholder 4"/>
          <p:cNvSpPr>
            <a:spLocks noGrp="1"/>
          </p:cNvSpPr>
          <p:nvPr>
            <p:ph type="dt" sz="half" idx="10"/>
          </p:nvPr>
        </p:nvSpPr>
        <p:spPr/>
        <p:txBody>
          <a:bodyPr/>
          <a:lstStyle/>
          <a:p>
            <a:fld id="{8B14046F-EC5D-4934-A5DC-A723370022E6}" type="datetimeFigureOut">
              <a:rPr lang="en-IN" smtClean="0"/>
              <a:t>02-09-2025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lvl1pPr>
              <a:defRPr>
                <a:solidFill>
                  <a:srgbClr val="FFFFFF">
                    <a:alpha val="20000"/>
                  </a:srgbClr>
                </a:solidFill>
              </a:defRPr>
            </a:lvl1pPr>
          </a:lstStyle>
          <a:p>
            <a:fld id="{C096E668-8C79-445D-A788-2413BE8D8F25}" type="slidenum">
              <a:rPr lang="en-IN" smtClean="0"/>
              <a:t>‹#›</a:t>
            </a:fld>
            <a:endParaRPr lang="en-IN"/>
          </a:p>
        </p:txBody>
      </p:sp>
    </p:spTree>
    <p:extLst>
      <p:ext uri="{BB962C8B-B14F-4D97-AF65-F5344CB8AC3E}">
        <p14:creationId xmlns:p14="http://schemas.microsoft.com/office/powerpoint/2010/main" val="11899550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49224" y="5418667"/>
            <a:ext cx="10780776" cy="613283"/>
          </a:xfrm>
        </p:spPr>
        <p:txBody>
          <a:bodyPr anchor="b">
            <a:normAutofit/>
          </a:bodyPr>
          <a:lstStyle>
            <a:lvl1pPr>
              <a:defRPr sz="32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2192000" cy="5330952"/>
          </a:xfrm>
          <a:solidFill>
            <a:schemeClr val="accent1">
              <a:lumMod val="40000"/>
              <a:lumOff val="60000"/>
            </a:schemeClr>
          </a:solidFill>
        </p:spPr>
        <p:txBody>
          <a:bodyPr anchor="t"/>
          <a:lstStyle>
            <a:lvl1pPr marL="0" indent="0" algn="ctr">
              <a:spcBef>
                <a:spcPts val="800"/>
              </a:spcBef>
              <a:buNone/>
              <a:defRPr sz="3200">
                <a:solidFill>
                  <a:schemeClr val="tx1">
                    <a:lumMod val="75000"/>
                    <a:lumOff val="2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76656" y="5909735"/>
            <a:ext cx="9229344" cy="533400"/>
          </a:xfrm>
        </p:spPr>
        <p:txBody>
          <a:bodyPr>
            <a:normAutofit/>
          </a:bodyPr>
          <a:lstStyle>
            <a:lvl1pPr marL="0" indent="0">
              <a:lnSpc>
                <a:spcPct val="90000"/>
              </a:lnSpc>
              <a:buNone/>
              <a:defRPr sz="1400">
                <a:solidFill>
                  <a:srgbClr val="262626"/>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2" name="Date Placeholder 11"/>
          <p:cNvSpPr>
            <a:spLocks noGrp="1"/>
          </p:cNvSpPr>
          <p:nvPr>
            <p:ph type="dt" sz="half" idx="10"/>
          </p:nvPr>
        </p:nvSpPr>
        <p:spPr/>
        <p:txBody>
          <a:bodyPr/>
          <a:lstStyle>
            <a:lvl1pPr>
              <a:defRPr>
                <a:solidFill>
                  <a:srgbClr val="FFFFFF">
                    <a:alpha val="80000"/>
                  </a:srgbClr>
                </a:solidFill>
              </a:defRPr>
            </a:lvl1pPr>
          </a:lstStyle>
          <a:p>
            <a:fld id="{8B14046F-EC5D-4934-A5DC-A723370022E6}" type="datetimeFigureOut">
              <a:rPr lang="en-IN" smtClean="0"/>
              <a:t>02-09-2025</a:t>
            </a:fld>
            <a:endParaRPr lang="en-IN"/>
          </a:p>
        </p:txBody>
      </p:sp>
      <p:sp>
        <p:nvSpPr>
          <p:cNvPr id="13" name="Footer Placeholder 12"/>
          <p:cNvSpPr>
            <a:spLocks noGrp="1"/>
          </p:cNvSpPr>
          <p:nvPr>
            <p:ph type="ftr" sz="quarter" idx="11"/>
          </p:nvPr>
        </p:nvSpPr>
        <p:spPr/>
        <p:txBody>
          <a:bodyPr/>
          <a:lstStyle>
            <a:lvl1pPr>
              <a:defRPr>
                <a:solidFill>
                  <a:srgbClr val="FFFFFF">
                    <a:alpha val="80000"/>
                  </a:srgbClr>
                </a:solidFill>
              </a:defRPr>
            </a:lvl1pPr>
          </a:lstStyle>
          <a:p>
            <a:endParaRPr lang="en-IN"/>
          </a:p>
        </p:txBody>
      </p:sp>
      <p:sp>
        <p:nvSpPr>
          <p:cNvPr id="14" name="Slide Number Placeholder 13"/>
          <p:cNvSpPr>
            <a:spLocks noGrp="1"/>
          </p:cNvSpPr>
          <p:nvPr>
            <p:ph type="sldNum" sz="quarter" idx="12"/>
          </p:nvPr>
        </p:nvSpPr>
        <p:spPr/>
        <p:txBody>
          <a:bodyPr/>
          <a:lstStyle>
            <a:lvl1pPr>
              <a:defRPr>
                <a:solidFill>
                  <a:srgbClr val="FFFFFF">
                    <a:alpha val="25000"/>
                  </a:srgbClr>
                </a:solidFill>
              </a:defRPr>
            </a:lvl1pPr>
          </a:lstStyle>
          <a:p>
            <a:fld id="{C096E668-8C79-445D-A788-2413BE8D8F25}" type="slidenum">
              <a:rPr lang="en-IN" smtClean="0"/>
              <a:t>‹#›</a:t>
            </a:fld>
            <a:endParaRPr lang="en-IN"/>
          </a:p>
        </p:txBody>
      </p:sp>
    </p:spTree>
    <p:extLst>
      <p:ext uri="{BB962C8B-B14F-4D97-AF65-F5344CB8AC3E}">
        <p14:creationId xmlns:p14="http://schemas.microsoft.com/office/powerpoint/2010/main" val="2625574373"/>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B14046F-EC5D-4934-A5DC-A723370022E6}" type="datetimeFigureOut">
              <a:rPr lang="en-IN" smtClean="0"/>
              <a:t>02-09-2025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096E668-8C79-445D-A788-2413BE8D8F25}" type="slidenum">
              <a:rPr lang="en-IN" smtClean="0"/>
              <a:t>‹#›</a:t>
            </a:fld>
            <a:endParaRPr lang="en-IN"/>
          </a:p>
        </p:txBody>
      </p:sp>
    </p:spTree>
    <p:extLst>
      <p:ext uri="{BB962C8B-B14F-4D97-AF65-F5344CB8AC3E}">
        <p14:creationId xmlns:p14="http://schemas.microsoft.com/office/powerpoint/2010/main" val="36579582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43950" y="695325"/>
            <a:ext cx="2628900" cy="48006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1525" y="714375"/>
            <a:ext cx="7734300" cy="54006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B14046F-EC5D-4934-A5DC-A723370022E6}" type="datetimeFigureOut">
              <a:rPr lang="en-IN" smtClean="0"/>
              <a:t>02-09-2025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096E668-8C79-445D-A788-2413BE8D8F25}" type="slidenum">
              <a:rPr lang="en-IN" smtClean="0"/>
              <a:t>‹#›</a:t>
            </a:fld>
            <a:endParaRPr lang="en-IN"/>
          </a:p>
        </p:txBody>
      </p:sp>
    </p:spTree>
    <p:extLst>
      <p:ext uri="{BB962C8B-B14F-4D97-AF65-F5344CB8AC3E}">
        <p14:creationId xmlns:p14="http://schemas.microsoft.com/office/powerpoint/2010/main" val="477218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57224" y="499533"/>
            <a:ext cx="10772775" cy="165819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76656" y="2011680"/>
            <a:ext cx="10753725" cy="376618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85800" y="6412447"/>
            <a:ext cx="4114800" cy="228600"/>
          </a:xfrm>
          <a:prstGeom prst="rect">
            <a:avLst/>
          </a:prstGeom>
        </p:spPr>
        <p:txBody>
          <a:bodyPr vert="horz" lIns="91440" tIns="45720" rIns="91440" bIns="45720" rtlCol="0" anchor="ctr"/>
          <a:lstStyle>
            <a:lvl1pPr algn="l">
              <a:defRPr sz="950">
                <a:solidFill>
                  <a:schemeClr val="tx1">
                    <a:alpha val="80000"/>
                  </a:schemeClr>
                </a:solidFill>
              </a:defRPr>
            </a:lvl1pPr>
          </a:lstStyle>
          <a:p>
            <a:fld id="{8B14046F-EC5D-4934-A5DC-A723370022E6}" type="datetimeFigureOut">
              <a:rPr lang="en-IN" smtClean="0"/>
              <a:t>02-09-2025</a:t>
            </a:fld>
            <a:endParaRPr lang="en-IN"/>
          </a:p>
        </p:txBody>
      </p:sp>
      <p:sp>
        <p:nvSpPr>
          <p:cNvPr id="5" name="Footer Placeholder 4"/>
          <p:cNvSpPr>
            <a:spLocks noGrp="1"/>
          </p:cNvSpPr>
          <p:nvPr>
            <p:ph type="ftr" sz="quarter" idx="3"/>
          </p:nvPr>
        </p:nvSpPr>
        <p:spPr>
          <a:xfrm>
            <a:off x="685800" y="6554697"/>
            <a:ext cx="5029200" cy="228600"/>
          </a:xfrm>
          <a:prstGeom prst="rect">
            <a:avLst/>
          </a:prstGeom>
        </p:spPr>
        <p:txBody>
          <a:bodyPr vert="horz" lIns="91440" tIns="45720" rIns="91440" bIns="45720" rtlCol="0" anchor="ctr"/>
          <a:lstStyle>
            <a:lvl1pPr algn="l">
              <a:defRPr sz="950" cap="all" baseline="0">
                <a:solidFill>
                  <a:schemeClr val="tx1">
                    <a:alpha val="80000"/>
                  </a:schemeClr>
                </a:solidFill>
              </a:defRPr>
            </a:lvl1pPr>
          </a:lstStyle>
          <a:p>
            <a:endParaRPr lang="en-IN"/>
          </a:p>
        </p:txBody>
      </p:sp>
      <p:sp>
        <p:nvSpPr>
          <p:cNvPr id="6" name="Slide Number Placeholder 5"/>
          <p:cNvSpPr>
            <a:spLocks noGrp="1"/>
          </p:cNvSpPr>
          <p:nvPr>
            <p:ph type="sldNum" sz="quarter" idx="4"/>
          </p:nvPr>
        </p:nvSpPr>
        <p:spPr>
          <a:xfrm>
            <a:off x="8763926" y="5876412"/>
            <a:ext cx="2926080" cy="1397039"/>
          </a:xfrm>
          <a:prstGeom prst="rect">
            <a:avLst/>
          </a:prstGeom>
        </p:spPr>
        <p:txBody>
          <a:bodyPr vert="horz" lIns="91440" tIns="45720" rIns="91440" bIns="45720" rtlCol="0" anchor="b"/>
          <a:lstStyle>
            <a:lvl1pPr algn="r">
              <a:defRPr sz="10300" b="0">
                <a:ln>
                  <a:noFill/>
                </a:ln>
                <a:solidFill>
                  <a:schemeClr val="accent1">
                    <a:alpha val="25000"/>
                  </a:schemeClr>
                </a:solidFill>
                <a:latin typeface="+mj-lt"/>
              </a:defRPr>
            </a:lvl1pPr>
          </a:lstStyle>
          <a:p>
            <a:fld id="{C096E668-8C79-445D-A788-2413BE8D8F25}" type="slidenum">
              <a:rPr lang="en-IN" smtClean="0"/>
              <a:t>‹#›</a:t>
            </a:fld>
            <a:endParaRPr lang="en-IN"/>
          </a:p>
        </p:txBody>
      </p:sp>
    </p:spTree>
    <p:extLst>
      <p:ext uri="{BB962C8B-B14F-4D97-AF65-F5344CB8AC3E}">
        <p14:creationId xmlns:p14="http://schemas.microsoft.com/office/powerpoint/2010/main" val="1564873272"/>
      </p:ext>
    </p:extLst>
  </p:cSld>
  <p:clrMap bg1="lt1" tx1="dk1" bg2="lt2" tx2="dk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16" r:id="rId11"/>
  </p:sldLayoutIdLst>
  <p:txStyles>
    <p:titleStyle>
      <a:lvl1pPr algn="l" defTabSz="914400" rtl="0" eaLnBrk="1" latinLnBrk="0" hangingPunct="1">
        <a:lnSpc>
          <a:spcPct val="85000"/>
        </a:lnSpc>
        <a:spcBef>
          <a:spcPct val="0"/>
        </a:spcBef>
        <a:buNone/>
        <a:defRPr sz="5400" kern="1200" spc="-120" baseline="0">
          <a:solidFill>
            <a:schemeClr val="accent1"/>
          </a:solidFill>
          <a:latin typeface="+mj-lt"/>
          <a:ea typeface="+mj-ea"/>
          <a:cs typeface="+mj-cs"/>
        </a:defRPr>
      </a:lvl1pPr>
    </p:titleStyle>
    <p:bodyStyle>
      <a:lvl1pPr marL="91440" indent="-91440" algn="l" defTabSz="914400" rtl="0" eaLnBrk="1" latinLnBrk="0" hangingPunct="1">
        <a:lnSpc>
          <a:spcPct val="85000"/>
        </a:lnSpc>
        <a:spcBef>
          <a:spcPts val="1300"/>
        </a:spcBef>
        <a:buFont typeface="Arial" pitchFamily="34" charset="0"/>
        <a:buChar char=" "/>
        <a:defRPr sz="2400" kern="1200">
          <a:solidFill>
            <a:schemeClr val="tx1">
              <a:lumMod val="85000"/>
              <a:lumOff val="15000"/>
            </a:schemeClr>
          </a:solidFill>
          <a:latin typeface="+mn-lt"/>
          <a:ea typeface="+mn-ea"/>
          <a:cs typeface="+mn-cs"/>
        </a:defRPr>
      </a:lvl1pPr>
      <a:lvl2pPr marL="347472" indent="-342900" algn="l" defTabSz="914400" rtl="0" eaLnBrk="1" latinLnBrk="0" hangingPunct="1">
        <a:lnSpc>
          <a:spcPct val="85000"/>
        </a:lnSpc>
        <a:spcBef>
          <a:spcPts val="600"/>
        </a:spcBef>
        <a:buFont typeface="Arial" pitchFamily="34" charset="0"/>
        <a:buChar char=" "/>
        <a:defRPr sz="2400" kern="1200">
          <a:solidFill>
            <a:schemeClr val="tx1">
              <a:lumMod val="85000"/>
              <a:lumOff val="15000"/>
            </a:schemeClr>
          </a:solidFill>
          <a:latin typeface="+mn-lt"/>
          <a:ea typeface="+mn-ea"/>
          <a:cs typeface="+mn-cs"/>
        </a:defRPr>
      </a:lvl2pPr>
      <a:lvl3pPr marL="548640" indent="-548640" algn="l" defTabSz="914400" rtl="0" eaLnBrk="1" latinLnBrk="0" hangingPunct="1">
        <a:lnSpc>
          <a:spcPct val="85000"/>
        </a:lnSpc>
        <a:spcBef>
          <a:spcPts val="600"/>
        </a:spcBef>
        <a:buFont typeface="Arial" pitchFamily="34" charset="0"/>
        <a:buChar char=" "/>
        <a:defRPr sz="2000" i="1" kern="1200">
          <a:solidFill>
            <a:schemeClr val="tx1">
              <a:lumMod val="85000"/>
              <a:lumOff val="15000"/>
            </a:schemeClr>
          </a:solidFill>
          <a:latin typeface="+mn-lt"/>
          <a:ea typeface="+mn-ea"/>
          <a:cs typeface="+mn-cs"/>
        </a:defRPr>
      </a:lvl3pPr>
      <a:lvl4pPr marL="822960" indent="-82296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4pPr>
      <a:lvl5pPr marL="1097280" indent="-109728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5pPr>
      <a:lvl6pPr marL="12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6pPr>
      <a:lvl7pPr marL="14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7pPr>
      <a:lvl8pPr marL="16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8pPr>
      <a:lvl9pPr marL="18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9C9952-ED40-4D6C-34E2-B4E99E48E607}"/>
              </a:ext>
            </a:extLst>
          </p:cNvPr>
          <p:cNvSpPr>
            <a:spLocks noGrp="1"/>
          </p:cNvSpPr>
          <p:nvPr>
            <p:ph type="ctrTitle"/>
          </p:nvPr>
        </p:nvSpPr>
        <p:spPr>
          <a:xfrm>
            <a:off x="982824" y="186613"/>
            <a:ext cx="9144000" cy="783771"/>
          </a:xfrm>
        </p:spPr>
        <p:txBody>
          <a:bodyPr>
            <a:noAutofit/>
          </a:bodyPr>
          <a:lstStyle/>
          <a:p>
            <a:r>
              <a:rPr lang="en-US" sz="6000" dirty="0"/>
              <a:t>Module-1</a:t>
            </a:r>
            <a:endParaRPr lang="en-IN" sz="6000" dirty="0"/>
          </a:p>
        </p:txBody>
      </p:sp>
      <p:sp>
        <p:nvSpPr>
          <p:cNvPr id="3" name="Subtitle 2">
            <a:extLst>
              <a:ext uri="{FF2B5EF4-FFF2-40B4-BE49-F238E27FC236}">
                <a16:creationId xmlns:a16="http://schemas.microsoft.com/office/drawing/2014/main" id="{7A4948CA-405A-4876-34E4-36D8FA0F0631}"/>
              </a:ext>
            </a:extLst>
          </p:cNvPr>
          <p:cNvSpPr>
            <a:spLocks noGrp="1"/>
          </p:cNvSpPr>
          <p:nvPr>
            <p:ph type="subTitle" idx="1"/>
          </p:nvPr>
        </p:nvSpPr>
        <p:spPr>
          <a:xfrm>
            <a:off x="865239" y="1056454"/>
            <a:ext cx="10589342" cy="5614933"/>
          </a:xfrm>
        </p:spPr>
        <p:txBody>
          <a:bodyPr>
            <a:normAutofit fontScale="92500" lnSpcReduction="20000"/>
          </a:bodyPr>
          <a:lstStyle/>
          <a:p>
            <a:pPr algn="just">
              <a:lnSpc>
                <a:spcPct val="150000"/>
              </a:lnSpc>
            </a:pPr>
            <a:r>
              <a:rPr lang="en-IN" dirty="0">
                <a:latin typeface="Times New Roman" panose="02020603050405020304" pitchFamily="18" charset="0"/>
                <a:cs typeface="Times New Roman" panose="02020603050405020304" pitchFamily="18" charset="0"/>
              </a:rPr>
              <a:t>A model for Network Security, Classical encryption techniques:</a:t>
            </a:r>
          </a:p>
          <a:p>
            <a:pPr algn="just">
              <a:lnSpc>
                <a:spcPct val="150000"/>
              </a:lnSpc>
            </a:pPr>
            <a:r>
              <a:rPr lang="en-IN" dirty="0">
                <a:latin typeface="Times New Roman" panose="02020603050405020304" pitchFamily="18" charset="0"/>
                <a:cs typeface="Times New Roman" panose="02020603050405020304" pitchFamily="18" charset="0"/>
              </a:rPr>
              <a:t>Symmetric cipher model, Substitution ciphers-Caesar Cipher,</a:t>
            </a:r>
          </a:p>
          <a:p>
            <a:pPr algn="just">
              <a:lnSpc>
                <a:spcPct val="150000"/>
              </a:lnSpc>
            </a:pPr>
            <a:r>
              <a:rPr lang="en-IN" dirty="0">
                <a:latin typeface="Times New Roman" panose="02020603050405020304" pitchFamily="18" charset="0"/>
                <a:cs typeface="Times New Roman" panose="02020603050405020304" pitchFamily="18" charset="0"/>
              </a:rPr>
              <a:t>Monoalphabetic Cipher, Playfair Cipher, Hill Cipher,</a:t>
            </a:r>
          </a:p>
          <a:p>
            <a:pPr algn="just">
              <a:lnSpc>
                <a:spcPct val="150000"/>
              </a:lnSpc>
            </a:pPr>
            <a:r>
              <a:rPr lang="en-IN" dirty="0">
                <a:latin typeface="Times New Roman" panose="02020603050405020304" pitchFamily="18" charset="0"/>
                <a:cs typeface="Times New Roman" panose="02020603050405020304" pitchFamily="18" charset="0"/>
              </a:rPr>
              <a:t>Polyalphabetic Ciphers, One time pad, Steganography Block</a:t>
            </a:r>
          </a:p>
          <a:p>
            <a:pPr algn="just">
              <a:lnSpc>
                <a:spcPct val="150000"/>
              </a:lnSpc>
            </a:pPr>
            <a:r>
              <a:rPr lang="en-IN" dirty="0">
                <a:latin typeface="Times New Roman" panose="02020603050405020304" pitchFamily="18" charset="0"/>
                <a:cs typeface="Times New Roman" panose="02020603050405020304" pitchFamily="18" charset="0"/>
              </a:rPr>
              <a:t>Ciphers and Data Encryption Standards: Traditional Block Cipher structures, data Encryption Standard (DES), </a:t>
            </a:r>
          </a:p>
          <a:p>
            <a:pPr algn="just">
              <a:lnSpc>
                <a:spcPct val="150000"/>
              </a:lnSpc>
            </a:pPr>
            <a:r>
              <a:rPr lang="en-IN" dirty="0">
                <a:latin typeface="Times New Roman" panose="02020603050405020304" pitchFamily="18" charset="0"/>
                <a:cs typeface="Times New Roman" panose="02020603050405020304" pitchFamily="18" charset="0"/>
              </a:rPr>
              <a:t>A DES Example, The strength of DES, Block cipher design principles </a:t>
            </a:r>
          </a:p>
        </p:txBody>
      </p:sp>
    </p:spTree>
    <p:extLst>
      <p:ext uri="{BB962C8B-B14F-4D97-AF65-F5344CB8AC3E}">
        <p14:creationId xmlns:p14="http://schemas.microsoft.com/office/powerpoint/2010/main" val="34753472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E9B8D8-F80B-4A0E-A2C3-70E7EDDE157D}"/>
              </a:ext>
            </a:extLst>
          </p:cNvPr>
          <p:cNvSpPr>
            <a:spLocks noGrp="1"/>
          </p:cNvSpPr>
          <p:nvPr>
            <p:ph type="title"/>
          </p:nvPr>
        </p:nvSpPr>
        <p:spPr>
          <a:xfrm>
            <a:off x="569115" y="216311"/>
            <a:ext cx="10772775" cy="835742"/>
          </a:xfrm>
        </p:spPr>
        <p:txBody>
          <a:bodyPr/>
          <a:lstStyle/>
          <a:p>
            <a:r>
              <a:rPr lang="en-US" dirty="0"/>
              <a:t>Introduction </a:t>
            </a:r>
            <a:endParaRPr lang="en-IN" dirty="0"/>
          </a:p>
        </p:txBody>
      </p:sp>
      <p:sp>
        <p:nvSpPr>
          <p:cNvPr id="3" name="Content Placeholder 2">
            <a:extLst>
              <a:ext uri="{FF2B5EF4-FFF2-40B4-BE49-F238E27FC236}">
                <a16:creationId xmlns:a16="http://schemas.microsoft.com/office/drawing/2014/main" id="{B173D2B0-BACD-AAA8-6258-C605E52E64DB}"/>
              </a:ext>
            </a:extLst>
          </p:cNvPr>
          <p:cNvSpPr>
            <a:spLocks noGrp="1"/>
          </p:cNvSpPr>
          <p:nvPr>
            <p:ph idx="1"/>
          </p:nvPr>
        </p:nvSpPr>
        <p:spPr>
          <a:xfrm>
            <a:off x="569116" y="1170039"/>
            <a:ext cx="11052614" cy="5319251"/>
          </a:xfrm>
        </p:spPr>
        <p:txBody>
          <a:bodyPr>
            <a:normAutofit fontScale="85000" lnSpcReduction="20000"/>
          </a:bodyPr>
          <a:lstStyle/>
          <a:p>
            <a:pPr algn="just">
              <a:lnSpc>
                <a:spcPct val="150000"/>
              </a:lnSpc>
            </a:pPr>
            <a:r>
              <a:rPr lang="en-US" sz="3600" dirty="0">
                <a:latin typeface="Times New Roman" panose="02020603050405020304" pitchFamily="18" charset="0"/>
                <a:cs typeface="Times New Roman" panose="02020603050405020304" pitchFamily="18" charset="0"/>
              </a:rPr>
              <a:t>A message is to be transferred from one party to another across some sort of Internet service. </a:t>
            </a:r>
          </a:p>
          <a:p>
            <a:pPr algn="just">
              <a:lnSpc>
                <a:spcPct val="150000"/>
              </a:lnSpc>
            </a:pPr>
            <a:r>
              <a:rPr lang="en-US" sz="3600" dirty="0">
                <a:latin typeface="Times New Roman" panose="02020603050405020304" pitchFamily="18" charset="0"/>
                <a:cs typeface="Times New Roman" panose="02020603050405020304" pitchFamily="18" charset="0"/>
              </a:rPr>
              <a:t>The two parties, who are the principals in this transaction, must cooperate for the exchange to take place. </a:t>
            </a:r>
          </a:p>
          <a:p>
            <a:pPr algn="just">
              <a:lnSpc>
                <a:spcPct val="150000"/>
              </a:lnSpc>
            </a:pPr>
            <a:r>
              <a:rPr lang="en-US" sz="3600" dirty="0">
                <a:latin typeface="Times New Roman" panose="02020603050405020304" pitchFamily="18" charset="0"/>
                <a:cs typeface="Times New Roman" panose="02020603050405020304" pitchFamily="18" charset="0"/>
              </a:rPr>
              <a:t>A logical information channel is established by defining a route through the Internet from source to destination and by the cooperative use of communication protocols (e.g., TCP/IP) by the two principals.</a:t>
            </a:r>
            <a:endParaRPr lang="en-IN"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17565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E6EFCC-ECB3-4F64-C671-660D90BC0132}"/>
              </a:ext>
            </a:extLst>
          </p:cNvPr>
          <p:cNvSpPr>
            <a:spLocks noGrp="1"/>
          </p:cNvSpPr>
          <p:nvPr>
            <p:ph type="title"/>
          </p:nvPr>
        </p:nvSpPr>
        <p:spPr>
          <a:xfrm>
            <a:off x="638174" y="184901"/>
            <a:ext cx="10772775" cy="580602"/>
          </a:xfrm>
        </p:spPr>
        <p:txBody>
          <a:bodyPr>
            <a:normAutofit fontScale="90000"/>
          </a:bodyPr>
          <a:lstStyle/>
          <a:p>
            <a:r>
              <a:rPr lang="en-US" dirty="0"/>
              <a:t>Network Model </a:t>
            </a:r>
            <a:endParaRPr lang="en-IN" dirty="0"/>
          </a:p>
        </p:txBody>
      </p:sp>
      <p:sp>
        <p:nvSpPr>
          <p:cNvPr id="3" name="Content Placeholder 2">
            <a:extLst>
              <a:ext uri="{FF2B5EF4-FFF2-40B4-BE49-F238E27FC236}">
                <a16:creationId xmlns:a16="http://schemas.microsoft.com/office/drawing/2014/main" id="{A4A44064-1FFB-D19F-324A-857C062FE736}"/>
              </a:ext>
            </a:extLst>
          </p:cNvPr>
          <p:cNvSpPr>
            <a:spLocks noGrp="1"/>
          </p:cNvSpPr>
          <p:nvPr>
            <p:ph idx="1"/>
          </p:nvPr>
        </p:nvSpPr>
        <p:spPr>
          <a:xfrm>
            <a:off x="676656" y="904568"/>
            <a:ext cx="10876247" cy="5643716"/>
          </a:xfrm>
        </p:spPr>
        <p:txBody>
          <a:bodyPr>
            <a:normAutofit fontScale="92500" lnSpcReduction="10000"/>
          </a:bodyPr>
          <a:lstStyle/>
          <a:p>
            <a:pPr algn="just">
              <a:lnSpc>
                <a:spcPct val="150000"/>
              </a:lnSpc>
            </a:pPr>
            <a:r>
              <a:rPr lang="en-US" sz="2800" dirty="0">
                <a:latin typeface="Times New Roman" panose="02020603050405020304" pitchFamily="18" charset="0"/>
                <a:cs typeface="Times New Roman" panose="02020603050405020304" pitchFamily="18" charset="0"/>
              </a:rPr>
              <a:t>All the techniques for providing security have two components:</a:t>
            </a:r>
          </a:p>
          <a:p>
            <a:pPr algn="just">
              <a:lnSpc>
                <a:spcPct val="150000"/>
              </a:lnSpc>
            </a:pPr>
            <a:r>
              <a:rPr lang="en-US" sz="2800" dirty="0">
                <a:latin typeface="Times New Roman" panose="02020603050405020304" pitchFamily="18" charset="0"/>
                <a:cs typeface="Times New Roman" panose="02020603050405020304" pitchFamily="18" charset="0"/>
              </a:rPr>
              <a:t>■ </a:t>
            </a:r>
            <a:r>
              <a:rPr lang="en-US" sz="2800" b="1" i="1" dirty="0">
                <a:latin typeface="Times New Roman" panose="02020603050405020304" pitchFamily="18" charset="0"/>
                <a:cs typeface="Times New Roman" panose="02020603050405020304" pitchFamily="18" charset="0"/>
              </a:rPr>
              <a:t>A security-related transformation on the information to be sent</a:t>
            </a:r>
            <a:r>
              <a:rPr lang="en-US" sz="2800" dirty="0">
                <a:latin typeface="Times New Roman" panose="02020603050405020304" pitchFamily="18" charset="0"/>
                <a:cs typeface="Times New Roman" panose="02020603050405020304" pitchFamily="18" charset="0"/>
              </a:rPr>
              <a:t>. Examples include the encryption of the message, which scrambles the message so that it is unreadable by the opponent, and the addition of a code based on the contents of the message, which can be used to verify the identity of the sender.</a:t>
            </a:r>
          </a:p>
          <a:p>
            <a:pPr algn="just">
              <a:lnSpc>
                <a:spcPct val="150000"/>
              </a:lnSpc>
            </a:pPr>
            <a:r>
              <a:rPr lang="en-US" sz="2800" dirty="0">
                <a:latin typeface="Times New Roman" panose="02020603050405020304" pitchFamily="18" charset="0"/>
                <a:cs typeface="Times New Roman" panose="02020603050405020304" pitchFamily="18" charset="0"/>
              </a:rPr>
              <a:t> ■ </a:t>
            </a:r>
            <a:r>
              <a:rPr lang="en-US" sz="2800" b="1" i="1" dirty="0">
                <a:latin typeface="Times New Roman" panose="02020603050405020304" pitchFamily="18" charset="0"/>
                <a:cs typeface="Times New Roman" panose="02020603050405020304" pitchFamily="18" charset="0"/>
              </a:rPr>
              <a:t>Some secret information shared by the two principals and, it is hoped, unknown to the opponent. </a:t>
            </a:r>
            <a:r>
              <a:rPr lang="en-US" sz="2800" dirty="0">
                <a:latin typeface="Times New Roman" panose="02020603050405020304" pitchFamily="18" charset="0"/>
                <a:cs typeface="Times New Roman" panose="02020603050405020304" pitchFamily="18" charset="0"/>
              </a:rPr>
              <a:t>An example is an encryption key used in conjunction with the transformation to scramble the message before transmission and unscramble it on reception</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437488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anim calcmode="lin" valueType="num">
                                      <p:cBhvr>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2ECAC-4EC9-7253-3BBF-6DB9B7797F3B}"/>
              </a:ext>
            </a:extLst>
          </p:cNvPr>
          <p:cNvSpPr>
            <a:spLocks noGrp="1"/>
          </p:cNvSpPr>
          <p:nvPr>
            <p:ph type="title"/>
          </p:nvPr>
        </p:nvSpPr>
        <p:spPr>
          <a:xfrm>
            <a:off x="709612" y="135740"/>
            <a:ext cx="10772775" cy="680338"/>
          </a:xfrm>
        </p:spPr>
        <p:txBody>
          <a:bodyPr>
            <a:normAutofit fontScale="90000"/>
          </a:bodyPr>
          <a:lstStyle/>
          <a:p>
            <a:r>
              <a:rPr lang="en-US" dirty="0"/>
              <a:t>Network Model </a:t>
            </a:r>
            <a:endParaRPr lang="en-IN" dirty="0"/>
          </a:p>
        </p:txBody>
      </p:sp>
      <p:pic>
        <p:nvPicPr>
          <p:cNvPr id="5" name="Content Placeholder 4">
            <a:extLst>
              <a:ext uri="{FF2B5EF4-FFF2-40B4-BE49-F238E27FC236}">
                <a16:creationId xmlns:a16="http://schemas.microsoft.com/office/drawing/2014/main" id="{C3627214-61D7-5DC1-A28A-6A917CFE5181}"/>
              </a:ext>
            </a:extLst>
          </p:cNvPr>
          <p:cNvPicPr>
            <a:picLocks noGrp="1" noChangeAspect="1"/>
          </p:cNvPicPr>
          <p:nvPr>
            <p:ph idx="1"/>
          </p:nvPr>
        </p:nvPicPr>
        <p:blipFill>
          <a:blip r:embed="rId2"/>
          <a:stretch>
            <a:fillRect/>
          </a:stretch>
        </p:blipFill>
        <p:spPr>
          <a:xfrm>
            <a:off x="1199536" y="1425677"/>
            <a:ext cx="9960078" cy="4729317"/>
          </a:xfrm>
        </p:spPr>
      </p:pic>
    </p:spTree>
    <p:extLst>
      <p:ext uri="{BB962C8B-B14F-4D97-AF65-F5344CB8AC3E}">
        <p14:creationId xmlns:p14="http://schemas.microsoft.com/office/powerpoint/2010/main" val="19030232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9BBDF9-9E01-3206-02AE-8D5B370B073A}"/>
              </a:ext>
            </a:extLst>
          </p:cNvPr>
          <p:cNvSpPr>
            <a:spLocks noGrp="1"/>
          </p:cNvSpPr>
          <p:nvPr>
            <p:ph type="title"/>
          </p:nvPr>
        </p:nvSpPr>
        <p:spPr>
          <a:xfrm>
            <a:off x="638174" y="332385"/>
            <a:ext cx="10772775" cy="580602"/>
          </a:xfrm>
        </p:spPr>
        <p:txBody>
          <a:bodyPr>
            <a:normAutofit fontScale="90000"/>
          </a:bodyPr>
          <a:lstStyle/>
          <a:p>
            <a:r>
              <a:rPr lang="en-US" dirty="0"/>
              <a:t>Contd..</a:t>
            </a:r>
            <a:endParaRPr lang="en-IN" dirty="0"/>
          </a:p>
        </p:txBody>
      </p:sp>
      <p:sp>
        <p:nvSpPr>
          <p:cNvPr id="3" name="Content Placeholder 2">
            <a:extLst>
              <a:ext uri="{FF2B5EF4-FFF2-40B4-BE49-F238E27FC236}">
                <a16:creationId xmlns:a16="http://schemas.microsoft.com/office/drawing/2014/main" id="{06B4143F-4F50-EBF4-B752-4FC1CE5BC3BD}"/>
              </a:ext>
            </a:extLst>
          </p:cNvPr>
          <p:cNvSpPr>
            <a:spLocks noGrp="1"/>
          </p:cNvSpPr>
          <p:nvPr>
            <p:ph idx="1"/>
          </p:nvPr>
        </p:nvSpPr>
        <p:spPr>
          <a:xfrm>
            <a:off x="676656" y="993058"/>
            <a:ext cx="10876247" cy="5447071"/>
          </a:xfrm>
        </p:spPr>
        <p:txBody>
          <a:bodyPr>
            <a:normAutofit/>
          </a:bodyPr>
          <a:lstStyle/>
          <a:p>
            <a:pPr algn="just">
              <a:lnSpc>
                <a:spcPct val="150000"/>
              </a:lnSpc>
            </a:pPr>
            <a:r>
              <a:rPr lang="en-US" dirty="0">
                <a:latin typeface="Times New Roman" panose="02020603050405020304" pitchFamily="18" charset="0"/>
                <a:cs typeface="Times New Roman" panose="02020603050405020304" pitchFamily="18" charset="0"/>
              </a:rPr>
              <a:t>This general model shows that there are four basic tasks in designing a particular security service: </a:t>
            </a:r>
          </a:p>
          <a:p>
            <a:pPr algn="just">
              <a:lnSpc>
                <a:spcPct val="150000"/>
              </a:lnSpc>
            </a:pPr>
            <a:r>
              <a:rPr lang="en-US" dirty="0">
                <a:latin typeface="Times New Roman" panose="02020603050405020304" pitchFamily="18" charset="0"/>
                <a:cs typeface="Times New Roman" panose="02020603050405020304" pitchFamily="18" charset="0"/>
              </a:rPr>
              <a:t>1. </a:t>
            </a:r>
            <a:r>
              <a:rPr lang="en-US" b="1" i="1" dirty="0">
                <a:latin typeface="Times New Roman" panose="02020603050405020304" pitchFamily="18" charset="0"/>
                <a:cs typeface="Times New Roman" panose="02020603050405020304" pitchFamily="18" charset="0"/>
              </a:rPr>
              <a:t>Design an algorithm </a:t>
            </a:r>
            <a:r>
              <a:rPr lang="en-US" dirty="0">
                <a:latin typeface="Times New Roman" panose="02020603050405020304" pitchFamily="18" charset="0"/>
                <a:cs typeface="Times New Roman" panose="02020603050405020304" pitchFamily="18" charset="0"/>
              </a:rPr>
              <a:t>for performing the security-related transformation. The algorithm should be such that an opponent cannot defeat its purpose. </a:t>
            </a:r>
          </a:p>
          <a:p>
            <a:pPr algn="just">
              <a:lnSpc>
                <a:spcPct val="150000"/>
              </a:lnSpc>
            </a:pPr>
            <a:r>
              <a:rPr lang="en-US" dirty="0">
                <a:latin typeface="Times New Roman" panose="02020603050405020304" pitchFamily="18" charset="0"/>
                <a:cs typeface="Times New Roman" panose="02020603050405020304" pitchFamily="18" charset="0"/>
              </a:rPr>
              <a:t>2. </a:t>
            </a:r>
            <a:r>
              <a:rPr lang="en-US" b="1" i="1" dirty="0">
                <a:latin typeface="Times New Roman" panose="02020603050405020304" pitchFamily="18" charset="0"/>
                <a:cs typeface="Times New Roman" panose="02020603050405020304" pitchFamily="18" charset="0"/>
              </a:rPr>
              <a:t>Generate the secret information </a:t>
            </a:r>
            <a:r>
              <a:rPr lang="en-US" dirty="0">
                <a:latin typeface="Times New Roman" panose="02020603050405020304" pitchFamily="18" charset="0"/>
                <a:cs typeface="Times New Roman" panose="02020603050405020304" pitchFamily="18" charset="0"/>
              </a:rPr>
              <a:t>to be used with the algorithm. </a:t>
            </a:r>
          </a:p>
          <a:p>
            <a:pPr algn="just">
              <a:lnSpc>
                <a:spcPct val="150000"/>
              </a:lnSpc>
            </a:pPr>
            <a:r>
              <a:rPr lang="en-US" dirty="0">
                <a:latin typeface="Times New Roman" panose="02020603050405020304" pitchFamily="18" charset="0"/>
                <a:cs typeface="Times New Roman" panose="02020603050405020304" pitchFamily="18" charset="0"/>
              </a:rPr>
              <a:t>3. </a:t>
            </a:r>
            <a:r>
              <a:rPr lang="en-US" b="1" i="1" dirty="0">
                <a:latin typeface="Times New Roman" panose="02020603050405020304" pitchFamily="18" charset="0"/>
                <a:cs typeface="Times New Roman" panose="02020603050405020304" pitchFamily="18" charset="0"/>
              </a:rPr>
              <a:t>Develop methods for the distribution and sharing </a:t>
            </a:r>
            <a:r>
              <a:rPr lang="en-US" dirty="0">
                <a:latin typeface="Times New Roman" panose="02020603050405020304" pitchFamily="18" charset="0"/>
                <a:cs typeface="Times New Roman" panose="02020603050405020304" pitchFamily="18" charset="0"/>
              </a:rPr>
              <a:t>of the secret information. </a:t>
            </a:r>
          </a:p>
          <a:p>
            <a:pPr algn="just">
              <a:lnSpc>
                <a:spcPct val="150000"/>
              </a:lnSpc>
            </a:pPr>
            <a:r>
              <a:rPr lang="en-US" dirty="0">
                <a:latin typeface="Times New Roman" panose="02020603050405020304" pitchFamily="18" charset="0"/>
                <a:cs typeface="Times New Roman" panose="02020603050405020304" pitchFamily="18" charset="0"/>
              </a:rPr>
              <a:t>4. </a:t>
            </a:r>
            <a:r>
              <a:rPr lang="en-US" b="1" i="1" dirty="0">
                <a:latin typeface="Times New Roman" panose="02020603050405020304" pitchFamily="18" charset="0"/>
                <a:cs typeface="Times New Roman" panose="02020603050405020304" pitchFamily="18" charset="0"/>
              </a:rPr>
              <a:t>Specify a protocol to be used by the two principals </a:t>
            </a:r>
            <a:r>
              <a:rPr lang="en-US" dirty="0">
                <a:latin typeface="Times New Roman" panose="02020603050405020304" pitchFamily="18" charset="0"/>
                <a:cs typeface="Times New Roman" panose="02020603050405020304" pitchFamily="18" charset="0"/>
              </a:rPr>
              <a:t>that makes use of the security algorithm and the secret information to achieve a particular security service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57235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anim calcmode="lin" valueType="num">
                                      <p:cBhvr>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1000"/>
                                        <p:tgtEl>
                                          <p:spTgt spid="3">
                                            <p:txEl>
                                              <p:pRg st="3" end="3"/>
                                            </p:txEl>
                                          </p:spTgt>
                                        </p:tgtEl>
                                      </p:cBhvr>
                                    </p:animEffect>
                                    <p:anim calcmode="lin" valueType="num">
                                      <p:cBhvr>
                                        <p:cTn id="22"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fade">
                                      <p:cBhvr>
                                        <p:cTn id="28" dur="1000"/>
                                        <p:tgtEl>
                                          <p:spTgt spid="3">
                                            <p:txEl>
                                              <p:pRg st="4" end="4"/>
                                            </p:txEl>
                                          </p:spTgt>
                                        </p:tgtEl>
                                      </p:cBhvr>
                                    </p:animEffect>
                                    <p:anim calcmode="lin" valueType="num">
                                      <p:cBhvr>
                                        <p:cTn id="29"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E61BC-1B84-C332-046D-74A8D320CC8B}"/>
              </a:ext>
            </a:extLst>
          </p:cNvPr>
          <p:cNvSpPr>
            <a:spLocks noGrp="1"/>
          </p:cNvSpPr>
          <p:nvPr>
            <p:ph type="title"/>
          </p:nvPr>
        </p:nvSpPr>
        <p:spPr>
          <a:xfrm>
            <a:off x="650618" y="87992"/>
            <a:ext cx="10772775" cy="580602"/>
          </a:xfrm>
        </p:spPr>
        <p:txBody>
          <a:bodyPr>
            <a:normAutofit fontScale="90000"/>
          </a:bodyPr>
          <a:lstStyle/>
          <a:p>
            <a:r>
              <a:rPr lang="en-US" dirty="0"/>
              <a:t>Kinds of Threats </a:t>
            </a:r>
            <a:endParaRPr lang="en-IN" dirty="0"/>
          </a:p>
        </p:txBody>
      </p:sp>
      <p:sp>
        <p:nvSpPr>
          <p:cNvPr id="3" name="Content Placeholder 2">
            <a:extLst>
              <a:ext uri="{FF2B5EF4-FFF2-40B4-BE49-F238E27FC236}">
                <a16:creationId xmlns:a16="http://schemas.microsoft.com/office/drawing/2014/main" id="{6B5DAA2B-0911-C9ED-D350-7BF84957E901}"/>
              </a:ext>
            </a:extLst>
          </p:cNvPr>
          <p:cNvSpPr>
            <a:spLocks noGrp="1"/>
          </p:cNvSpPr>
          <p:nvPr>
            <p:ph idx="1"/>
          </p:nvPr>
        </p:nvSpPr>
        <p:spPr>
          <a:xfrm>
            <a:off x="676656" y="894735"/>
            <a:ext cx="10925409" cy="5751871"/>
          </a:xfrm>
        </p:spPr>
        <p:txBody>
          <a:bodyPr>
            <a:normAutofit/>
          </a:bodyPr>
          <a:lstStyle/>
          <a:p>
            <a:r>
              <a:rPr lang="en-US" sz="2800" dirty="0">
                <a:latin typeface="Times New Roman" panose="02020603050405020304" pitchFamily="18" charset="0"/>
                <a:cs typeface="Times New Roman" panose="02020603050405020304" pitchFamily="18" charset="0"/>
              </a:rPr>
              <a:t>Programs can present two kinds of threats: </a:t>
            </a:r>
          </a:p>
          <a:p>
            <a:pPr algn="just"/>
            <a:r>
              <a:rPr lang="en-US" sz="2800" dirty="0">
                <a:latin typeface="Times New Roman" panose="02020603050405020304" pitchFamily="18" charset="0"/>
                <a:cs typeface="Times New Roman" panose="02020603050405020304" pitchFamily="18" charset="0"/>
              </a:rPr>
              <a:t>■ </a:t>
            </a:r>
            <a:r>
              <a:rPr lang="en-US" sz="2800" b="1" i="1" dirty="0">
                <a:latin typeface="Times New Roman" panose="02020603050405020304" pitchFamily="18" charset="0"/>
                <a:cs typeface="Times New Roman" panose="02020603050405020304" pitchFamily="18" charset="0"/>
              </a:rPr>
              <a:t>Information access threats: </a:t>
            </a:r>
            <a:r>
              <a:rPr lang="en-US" sz="2800" dirty="0">
                <a:latin typeface="Times New Roman" panose="02020603050405020304" pitchFamily="18" charset="0"/>
                <a:cs typeface="Times New Roman" panose="02020603050405020304" pitchFamily="18" charset="0"/>
              </a:rPr>
              <a:t>Intercept or modify data on behalf of users who should not have access to that data. </a:t>
            </a:r>
          </a:p>
          <a:p>
            <a:pPr algn="just"/>
            <a:r>
              <a:rPr lang="en-US" sz="2800" dirty="0">
                <a:latin typeface="Times New Roman" panose="02020603050405020304" pitchFamily="18" charset="0"/>
                <a:cs typeface="Times New Roman" panose="02020603050405020304" pitchFamily="18" charset="0"/>
              </a:rPr>
              <a:t>■ </a:t>
            </a:r>
            <a:r>
              <a:rPr lang="en-US" sz="2800" b="1" i="1" dirty="0">
                <a:latin typeface="Times New Roman" panose="02020603050405020304" pitchFamily="18" charset="0"/>
                <a:cs typeface="Times New Roman" panose="02020603050405020304" pitchFamily="18" charset="0"/>
              </a:rPr>
              <a:t>Service threats: </a:t>
            </a:r>
            <a:r>
              <a:rPr lang="en-US" sz="2800" dirty="0">
                <a:latin typeface="Times New Roman" panose="02020603050405020304" pitchFamily="18" charset="0"/>
                <a:cs typeface="Times New Roman" panose="02020603050405020304" pitchFamily="18" charset="0"/>
              </a:rPr>
              <a:t>Exploit service flaws in computers to inhibit use by legitimate users</a:t>
            </a:r>
            <a:endParaRPr lang="en-IN" sz="28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0FFA0F7C-D4AA-6CBA-19D8-22EFC5869AEB}"/>
              </a:ext>
            </a:extLst>
          </p:cNvPr>
          <p:cNvPicPr>
            <a:picLocks noChangeAspect="1"/>
          </p:cNvPicPr>
          <p:nvPr/>
        </p:nvPicPr>
        <p:blipFill>
          <a:blip r:embed="rId2"/>
          <a:stretch>
            <a:fillRect/>
          </a:stretch>
        </p:blipFill>
        <p:spPr>
          <a:xfrm>
            <a:off x="793102" y="3429000"/>
            <a:ext cx="10722242" cy="3077497"/>
          </a:xfrm>
          <a:prstGeom prst="rect">
            <a:avLst/>
          </a:prstGeom>
        </p:spPr>
      </p:pic>
    </p:spTree>
    <p:extLst>
      <p:ext uri="{BB962C8B-B14F-4D97-AF65-F5344CB8AC3E}">
        <p14:creationId xmlns:p14="http://schemas.microsoft.com/office/powerpoint/2010/main" val="9125716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anim calcmode="lin" valueType="num">
                                      <p:cBhvr>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1000"/>
                                        <p:tgtEl>
                                          <p:spTgt spid="5"/>
                                        </p:tgtEl>
                                      </p:cBhvr>
                                    </p:animEffect>
                                    <p:anim calcmode="lin" valueType="num">
                                      <p:cBhvr>
                                        <p:cTn id="22" dur="1000" fill="hold"/>
                                        <p:tgtEl>
                                          <p:spTgt spid="5"/>
                                        </p:tgtEl>
                                        <p:attrNameLst>
                                          <p:attrName>ppt_x</p:attrName>
                                        </p:attrNameLst>
                                      </p:cBhvr>
                                      <p:tavLst>
                                        <p:tav tm="0">
                                          <p:val>
                                            <p:strVal val="#ppt_x"/>
                                          </p:val>
                                        </p:tav>
                                        <p:tav tm="100000">
                                          <p:val>
                                            <p:strVal val="#ppt_x"/>
                                          </p:val>
                                        </p:tav>
                                      </p:tavLst>
                                    </p:anim>
                                    <p:anim calcmode="lin" valueType="num">
                                      <p:cBhvr>
                                        <p:cTn id="23"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D7D68-2598-DDED-57F7-8C10208B5C7C}"/>
              </a:ext>
            </a:extLst>
          </p:cNvPr>
          <p:cNvSpPr>
            <a:spLocks noGrp="1"/>
          </p:cNvSpPr>
          <p:nvPr>
            <p:ph type="title"/>
          </p:nvPr>
        </p:nvSpPr>
        <p:spPr>
          <a:xfrm>
            <a:off x="657224" y="499533"/>
            <a:ext cx="10772775" cy="700002"/>
          </a:xfrm>
        </p:spPr>
        <p:txBody>
          <a:bodyPr>
            <a:normAutofit fontScale="90000"/>
          </a:bodyPr>
          <a:lstStyle/>
          <a:p>
            <a:r>
              <a:rPr lang="en-US" dirty="0"/>
              <a:t>Examples…</a:t>
            </a:r>
            <a:endParaRPr lang="en-IN" dirty="0"/>
          </a:p>
        </p:txBody>
      </p:sp>
      <p:sp>
        <p:nvSpPr>
          <p:cNvPr id="3" name="Content Placeholder 2">
            <a:extLst>
              <a:ext uri="{FF2B5EF4-FFF2-40B4-BE49-F238E27FC236}">
                <a16:creationId xmlns:a16="http://schemas.microsoft.com/office/drawing/2014/main" id="{ACF7D012-42B3-96AB-758A-DF06535F9043}"/>
              </a:ext>
            </a:extLst>
          </p:cNvPr>
          <p:cNvSpPr>
            <a:spLocks noGrp="1"/>
          </p:cNvSpPr>
          <p:nvPr>
            <p:ph idx="1"/>
          </p:nvPr>
        </p:nvSpPr>
        <p:spPr>
          <a:xfrm>
            <a:off x="666209" y="1311678"/>
            <a:ext cx="10753725" cy="5177612"/>
          </a:xfrm>
        </p:spPr>
        <p:txBody>
          <a:bodyPr>
            <a:normAutofit/>
          </a:bodyPr>
          <a:lstStyle/>
          <a:p>
            <a:pPr algn="just">
              <a:lnSpc>
                <a:spcPct val="150000"/>
              </a:lnSpc>
            </a:pPr>
            <a:r>
              <a:rPr lang="en-US" sz="2800" dirty="0">
                <a:latin typeface="Times New Roman" panose="02020603050405020304" pitchFamily="18" charset="0"/>
                <a:cs typeface="Times New Roman" panose="02020603050405020304" pitchFamily="18" charset="0"/>
              </a:rPr>
              <a:t>Viruses and worms are two examples of software attacks. </a:t>
            </a:r>
          </a:p>
          <a:p>
            <a:pPr algn="just">
              <a:lnSpc>
                <a:spcPct val="150000"/>
              </a:lnSpc>
            </a:pPr>
            <a:r>
              <a:rPr lang="en-US" sz="2800" dirty="0">
                <a:latin typeface="Times New Roman" panose="02020603050405020304" pitchFamily="18" charset="0"/>
                <a:cs typeface="Times New Roman" panose="02020603050405020304" pitchFamily="18" charset="0"/>
              </a:rPr>
              <a:t>Such attacks can be introduced into a system by means of a disk that contains the unwanted logic concealed in otherwise useful software. </a:t>
            </a:r>
          </a:p>
          <a:p>
            <a:pPr algn="just">
              <a:lnSpc>
                <a:spcPct val="150000"/>
              </a:lnSpc>
            </a:pPr>
            <a:r>
              <a:rPr lang="en-US" sz="2800" dirty="0">
                <a:latin typeface="Times New Roman" panose="02020603050405020304" pitchFamily="18" charset="0"/>
                <a:cs typeface="Times New Roman" panose="02020603050405020304" pitchFamily="18" charset="0"/>
              </a:rPr>
              <a:t>They can also be inserted into a system across a network; this latter mechanism is of more concern in network security.</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87065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31EB3-E157-9331-831F-032FB7212959}"/>
              </a:ext>
            </a:extLst>
          </p:cNvPr>
          <p:cNvSpPr>
            <a:spLocks noGrp="1"/>
          </p:cNvSpPr>
          <p:nvPr>
            <p:ph type="title"/>
          </p:nvPr>
        </p:nvSpPr>
        <p:spPr>
          <a:xfrm>
            <a:off x="657606" y="145572"/>
            <a:ext cx="10772775" cy="778661"/>
          </a:xfrm>
        </p:spPr>
        <p:txBody>
          <a:bodyPr>
            <a:normAutofit fontScale="90000"/>
          </a:bodyPr>
          <a:lstStyle/>
          <a:p>
            <a:r>
              <a:rPr lang="en-US" dirty="0"/>
              <a:t>Chapter 3-Classical Encryption Techniques  </a:t>
            </a:r>
            <a:endParaRPr lang="en-IN" dirty="0"/>
          </a:p>
        </p:txBody>
      </p:sp>
      <p:sp>
        <p:nvSpPr>
          <p:cNvPr id="3" name="Content Placeholder 2">
            <a:extLst>
              <a:ext uri="{FF2B5EF4-FFF2-40B4-BE49-F238E27FC236}">
                <a16:creationId xmlns:a16="http://schemas.microsoft.com/office/drawing/2014/main" id="{95259D5E-0426-EEDA-1171-766607931CE7}"/>
              </a:ext>
            </a:extLst>
          </p:cNvPr>
          <p:cNvSpPr>
            <a:spLocks noGrp="1"/>
          </p:cNvSpPr>
          <p:nvPr>
            <p:ph idx="1"/>
          </p:nvPr>
        </p:nvSpPr>
        <p:spPr>
          <a:xfrm>
            <a:off x="676656" y="924234"/>
            <a:ext cx="10753725" cy="5673212"/>
          </a:xfrm>
        </p:spPr>
        <p:txBody>
          <a:bodyPr>
            <a:normAutofit lnSpcReduction="10000"/>
          </a:bodyPr>
          <a:lstStyle/>
          <a:p>
            <a:pPr algn="just">
              <a:lnSpc>
                <a:spcPct val="150000"/>
              </a:lnSpc>
            </a:pPr>
            <a:r>
              <a:rPr lang="en-US" dirty="0">
                <a:latin typeface="Times New Roman" panose="02020603050405020304" pitchFamily="18" charset="0"/>
                <a:cs typeface="Times New Roman" panose="02020603050405020304" pitchFamily="18" charset="0"/>
              </a:rPr>
              <a:t>An </a:t>
            </a:r>
            <a:r>
              <a:rPr lang="en-US" b="1" i="1" dirty="0">
                <a:latin typeface="Times New Roman" panose="02020603050405020304" pitchFamily="18" charset="0"/>
                <a:cs typeface="Times New Roman" panose="02020603050405020304" pitchFamily="18" charset="0"/>
              </a:rPr>
              <a:t>original message </a:t>
            </a:r>
            <a:r>
              <a:rPr lang="en-US" dirty="0">
                <a:latin typeface="Times New Roman" panose="02020603050405020304" pitchFamily="18" charset="0"/>
                <a:cs typeface="Times New Roman" panose="02020603050405020304" pitchFamily="18" charset="0"/>
              </a:rPr>
              <a:t>is known as the </a:t>
            </a:r>
            <a:r>
              <a:rPr lang="en-US" b="1" i="1" dirty="0">
                <a:latin typeface="Times New Roman" panose="02020603050405020304" pitchFamily="18" charset="0"/>
                <a:cs typeface="Times New Roman" panose="02020603050405020304" pitchFamily="18" charset="0"/>
              </a:rPr>
              <a:t>plaintext</a:t>
            </a:r>
            <a:r>
              <a:rPr lang="en-US" dirty="0">
                <a:latin typeface="Times New Roman" panose="02020603050405020304" pitchFamily="18" charset="0"/>
                <a:cs typeface="Times New Roman" panose="02020603050405020304" pitchFamily="18" charset="0"/>
              </a:rPr>
              <a:t>, while the </a:t>
            </a:r>
            <a:r>
              <a:rPr lang="en-US" b="1" i="1" dirty="0">
                <a:latin typeface="Times New Roman" panose="02020603050405020304" pitchFamily="18" charset="0"/>
                <a:cs typeface="Times New Roman" panose="02020603050405020304" pitchFamily="18" charset="0"/>
              </a:rPr>
              <a:t>coded message </a:t>
            </a:r>
            <a:r>
              <a:rPr lang="en-US" dirty="0">
                <a:latin typeface="Times New Roman" panose="02020603050405020304" pitchFamily="18" charset="0"/>
                <a:cs typeface="Times New Roman" panose="02020603050405020304" pitchFamily="18" charset="0"/>
              </a:rPr>
              <a:t>is called the </a:t>
            </a:r>
            <a:r>
              <a:rPr lang="en-US" b="1" i="1" dirty="0">
                <a:latin typeface="Times New Roman" panose="02020603050405020304" pitchFamily="18" charset="0"/>
                <a:cs typeface="Times New Roman" panose="02020603050405020304" pitchFamily="18" charset="0"/>
              </a:rPr>
              <a:t>ciphertext. </a:t>
            </a:r>
          </a:p>
          <a:p>
            <a:pPr algn="just">
              <a:lnSpc>
                <a:spcPct val="150000"/>
              </a:lnSpc>
            </a:pPr>
            <a:r>
              <a:rPr lang="en-US" dirty="0">
                <a:latin typeface="Times New Roman" panose="02020603050405020304" pitchFamily="18" charset="0"/>
                <a:cs typeface="Times New Roman" panose="02020603050405020304" pitchFamily="18" charset="0"/>
              </a:rPr>
              <a:t>The process of converting from plaintext to ciphertext is known as </a:t>
            </a:r>
            <a:r>
              <a:rPr lang="en-US" b="1" i="1" dirty="0">
                <a:latin typeface="Times New Roman" panose="02020603050405020304" pitchFamily="18" charset="0"/>
                <a:cs typeface="Times New Roman" panose="02020603050405020304" pitchFamily="18" charset="0"/>
              </a:rPr>
              <a:t>enciphering or encryption;</a:t>
            </a:r>
            <a:r>
              <a:rPr lang="en-US" dirty="0">
                <a:latin typeface="Times New Roman" panose="02020603050405020304" pitchFamily="18" charset="0"/>
                <a:cs typeface="Times New Roman" panose="02020603050405020304" pitchFamily="18" charset="0"/>
              </a:rPr>
              <a:t> restoring the plaintext from the ciphertext is </a:t>
            </a:r>
            <a:r>
              <a:rPr lang="en-US" b="1" i="1" dirty="0">
                <a:latin typeface="Times New Roman" panose="02020603050405020304" pitchFamily="18" charset="0"/>
                <a:cs typeface="Times New Roman" panose="02020603050405020304" pitchFamily="18" charset="0"/>
              </a:rPr>
              <a:t>deciphering or decryption</a:t>
            </a:r>
            <a:r>
              <a:rPr lang="en-US" dirty="0">
                <a:latin typeface="Times New Roman" panose="02020603050405020304" pitchFamily="18" charset="0"/>
                <a:cs typeface="Times New Roman" panose="02020603050405020304" pitchFamily="18" charset="0"/>
              </a:rPr>
              <a:t>.</a:t>
            </a:r>
          </a:p>
          <a:p>
            <a:pPr algn="just">
              <a:lnSpc>
                <a:spcPct val="150000"/>
              </a:lnSpc>
            </a:pPr>
            <a:r>
              <a:rPr lang="en-US" dirty="0">
                <a:latin typeface="Times New Roman" panose="02020603050405020304" pitchFamily="18" charset="0"/>
                <a:cs typeface="Times New Roman" panose="02020603050405020304" pitchFamily="18" charset="0"/>
              </a:rPr>
              <a:t>Many </a:t>
            </a:r>
            <a:r>
              <a:rPr lang="en-US" b="1" i="1" dirty="0">
                <a:latin typeface="Times New Roman" panose="02020603050405020304" pitchFamily="18" charset="0"/>
                <a:cs typeface="Times New Roman" panose="02020603050405020304" pitchFamily="18" charset="0"/>
              </a:rPr>
              <a:t>schemes used for encryption constitute the area of study known as cryptography. </a:t>
            </a:r>
            <a:r>
              <a:rPr lang="en-US" dirty="0">
                <a:latin typeface="Times New Roman" panose="02020603050405020304" pitchFamily="18" charset="0"/>
                <a:cs typeface="Times New Roman" panose="02020603050405020304" pitchFamily="18" charset="0"/>
              </a:rPr>
              <a:t>Such a scheme is known as a </a:t>
            </a:r>
            <a:r>
              <a:rPr lang="en-US" b="1" i="1" dirty="0">
                <a:latin typeface="Times New Roman" panose="02020603050405020304" pitchFamily="18" charset="0"/>
                <a:cs typeface="Times New Roman" panose="02020603050405020304" pitchFamily="18" charset="0"/>
              </a:rPr>
              <a:t>cryptographic system or a cipher. Techniques </a:t>
            </a:r>
            <a:r>
              <a:rPr lang="en-US" dirty="0">
                <a:latin typeface="Times New Roman" panose="02020603050405020304" pitchFamily="18" charset="0"/>
                <a:cs typeface="Times New Roman" panose="02020603050405020304" pitchFamily="18" charset="0"/>
              </a:rPr>
              <a:t>used for deciphering a message without any knowledge of the enciphering details fall into the area of cryptanalysis. </a:t>
            </a:r>
          </a:p>
          <a:p>
            <a:pPr algn="just">
              <a:lnSpc>
                <a:spcPct val="150000"/>
              </a:lnSpc>
            </a:pPr>
            <a:r>
              <a:rPr lang="en-US" dirty="0">
                <a:latin typeface="Times New Roman" panose="02020603050405020304" pitchFamily="18" charset="0"/>
                <a:cs typeface="Times New Roman" panose="02020603050405020304" pitchFamily="18" charset="0"/>
              </a:rPr>
              <a:t>Cryptanalysis is what the lay person calls “breaking the code.” </a:t>
            </a:r>
            <a:r>
              <a:rPr lang="en-US" b="1" i="1" dirty="0">
                <a:latin typeface="Times New Roman" panose="02020603050405020304" pitchFamily="18" charset="0"/>
                <a:cs typeface="Times New Roman" panose="02020603050405020304" pitchFamily="18" charset="0"/>
              </a:rPr>
              <a:t>The areas of cryptography and cryptanalysis together are called cryptology.</a:t>
            </a:r>
            <a:endParaRPr lang="en-IN" b="1"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49212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5B1B41-CEE3-B793-9B28-48A09F836274}"/>
              </a:ext>
            </a:extLst>
          </p:cNvPr>
          <p:cNvSpPr>
            <a:spLocks noGrp="1"/>
          </p:cNvSpPr>
          <p:nvPr>
            <p:ph type="title"/>
          </p:nvPr>
        </p:nvSpPr>
        <p:spPr>
          <a:xfrm>
            <a:off x="657606" y="125908"/>
            <a:ext cx="10772775" cy="690170"/>
          </a:xfrm>
        </p:spPr>
        <p:txBody>
          <a:bodyPr>
            <a:normAutofit fontScale="90000"/>
          </a:bodyPr>
          <a:lstStyle/>
          <a:p>
            <a:r>
              <a:rPr lang="en-US" dirty="0"/>
              <a:t>Cryptography </a:t>
            </a:r>
            <a:endParaRPr lang="en-IN" dirty="0"/>
          </a:p>
        </p:txBody>
      </p:sp>
      <p:sp>
        <p:nvSpPr>
          <p:cNvPr id="3" name="Content Placeholder 2">
            <a:extLst>
              <a:ext uri="{FF2B5EF4-FFF2-40B4-BE49-F238E27FC236}">
                <a16:creationId xmlns:a16="http://schemas.microsoft.com/office/drawing/2014/main" id="{70C20E5C-C385-C5AB-B64E-888AD24F5365}"/>
              </a:ext>
            </a:extLst>
          </p:cNvPr>
          <p:cNvSpPr>
            <a:spLocks noGrp="1"/>
          </p:cNvSpPr>
          <p:nvPr>
            <p:ph idx="1"/>
          </p:nvPr>
        </p:nvSpPr>
        <p:spPr>
          <a:xfrm>
            <a:off x="676656" y="924233"/>
            <a:ext cx="10753725" cy="5673212"/>
          </a:xfrm>
        </p:spPr>
        <p:txBody>
          <a:bodyPr>
            <a:normAutofit fontScale="92500"/>
          </a:bodyPr>
          <a:lstStyle/>
          <a:p>
            <a:pPr algn="just">
              <a:lnSpc>
                <a:spcPct val="150000"/>
              </a:lnSpc>
            </a:pPr>
            <a:r>
              <a:rPr lang="en-US" dirty="0">
                <a:latin typeface="Times New Roman" panose="02020603050405020304" pitchFamily="18" charset="0"/>
                <a:cs typeface="Times New Roman" panose="02020603050405020304" pitchFamily="18" charset="0"/>
              </a:rPr>
              <a:t>Cryptographic systems are characterized along three independent dimensions: </a:t>
            </a:r>
          </a:p>
          <a:p>
            <a:pPr algn="just">
              <a:lnSpc>
                <a:spcPct val="150000"/>
              </a:lnSpc>
            </a:pPr>
            <a:r>
              <a:rPr lang="en-US" dirty="0">
                <a:latin typeface="Times New Roman" panose="02020603050405020304" pitchFamily="18" charset="0"/>
                <a:cs typeface="Times New Roman" panose="02020603050405020304" pitchFamily="18" charset="0"/>
              </a:rPr>
              <a:t>1. </a:t>
            </a:r>
            <a:r>
              <a:rPr lang="en-US" b="1" i="1" dirty="0">
                <a:latin typeface="Times New Roman" panose="02020603050405020304" pitchFamily="18" charset="0"/>
                <a:cs typeface="Times New Roman" panose="02020603050405020304" pitchFamily="18" charset="0"/>
              </a:rPr>
              <a:t>The type of operations used </a:t>
            </a:r>
            <a:r>
              <a:rPr lang="en-US" dirty="0">
                <a:latin typeface="Times New Roman" panose="02020603050405020304" pitchFamily="18" charset="0"/>
                <a:cs typeface="Times New Roman" panose="02020603050405020304" pitchFamily="18" charset="0"/>
              </a:rPr>
              <a:t>for transforming plaintext to ciphertext.</a:t>
            </a:r>
          </a:p>
          <a:p>
            <a:pPr algn="just">
              <a:lnSpc>
                <a:spcPct val="150000"/>
              </a:lnSpc>
            </a:pPr>
            <a:r>
              <a:rPr lang="en-US" dirty="0">
                <a:latin typeface="Times New Roman" panose="02020603050405020304" pitchFamily="18" charset="0"/>
                <a:cs typeface="Times New Roman" panose="02020603050405020304" pitchFamily="18" charset="0"/>
              </a:rPr>
              <a:t>2</a:t>
            </a:r>
            <a:r>
              <a:rPr lang="en-US" b="1" i="1" dirty="0">
                <a:latin typeface="Times New Roman" panose="02020603050405020304" pitchFamily="18" charset="0"/>
                <a:cs typeface="Times New Roman" panose="02020603050405020304" pitchFamily="18" charset="0"/>
              </a:rPr>
              <a:t>. The number of keys used.</a:t>
            </a:r>
          </a:p>
          <a:p>
            <a:pPr lvl="2" algn="just">
              <a:lnSpc>
                <a:spcPct val="150000"/>
              </a:lnSpc>
            </a:pPr>
            <a:r>
              <a:rPr lang="en-US" b="1" i="1" dirty="0">
                <a:latin typeface="Times New Roman" panose="02020603050405020304" pitchFamily="18" charset="0"/>
                <a:cs typeface="Times New Roman" panose="02020603050405020304" pitchFamily="18" charset="0"/>
              </a:rPr>
              <a:t>a. If both sender and receiver use the same key, the system is referred to as symmetric, single-key, secret-key, or conventional encryption</a:t>
            </a:r>
            <a:r>
              <a:rPr lang="en-US" b="1" dirty="0">
                <a:latin typeface="Times New Roman" panose="02020603050405020304" pitchFamily="18" charset="0"/>
                <a:cs typeface="Times New Roman" panose="02020603050405020304" pitchFamily="18" charset="0"/>
              </a:rPr>
              <a:t>.</a:t>
            </a:r>
          </a:p>
          <a:p>
            <a:pPr lvl="2" algn="just">
              <a:lnSpc>
                <a:spcPct val="150000"/>
              </a:lnSpc>
            </a:pPr>
            <a:r>
              <a:rPr lang="en-US" b="1" dirty="0">
                <a:latin typeface="Times New Roman" panose="02020603050405020304" pitchFamily="18" charset="0"/>
                <a:cs typeface="Times New Roman" panose="02020603050405020304" pitchFamily="18" charset="0"/>
              </a:rPr>
              <a:t>b. </a:t>
            </a:r>
            <a:r>
              <a:rPr lang="en-US" b="1" i="1" dirty="0">
                <a:latin typeface="Times New Roman" panose="02020603050405020304" pitchFamily="18" charset="0"/>
                <a:cs typeface="Times New Roman" panose="02020603050405020304" pitchFamily="18" charset="0"/>
              </a:rPr>
              <a:t>If the sender and receiver use different keys, the system is referred to as asymmetric, two-key, or public-key encryption.</a:t>
            </a:r>
          </a:p>
          <a:p>
            <a:pPr algn="just">
              <a:lnSpc>
                <a:spcPct val="150000"/>
              </a:lnSpc>
            </a:pPr>
            <a:r>
              <a:rPr lang="en-US" dirty="0">
                <a:latin typeface="Times New Roman" panose="02020603050405020304" pitchFamily="18" charset="0"/>
                <a:cs typeface="Times New Roman" panose="02020603050405020304" pitchFamily="18" charset="0"/>
              </a:rPr>
              <a:t>3. </a:t>
            </a:r>
            <a:r>
              <a:rPr lang="en-US" b="1" i="1" dirty="0">
                <a:latin typeface="Times New Roman" panose="02020603050405020304" pitchFamily="18" charset="0"/>
                <a:cs typeface="Times New Roman" panose="02020603050405020304" pitchFamily="18" charset="0"/>
              </a:rPr>
              <a:t>How is the plaintext processed??? </a:t>
            </a:r>
            <a:r>
              <a:rPr lang="en-US" dirty="0">
                <a:latin typeface="Times New Roman" panose="02020603050405020304" pitchFamily="18" charset="0"/>
                <a:cs typeface="Times New Roman" panose="02020603050405020304" pitchFamily="18" charset="0"/>
              </a:rPr>
              <a:t>A block cipher processes the input one block of elements at a time, producing an output block for each input block. A stream cipher processes the input elements continuously, producing output one element at a time, as it goes along.</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169198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4" presetID="42" presetClass="entr" presetSubtype="0" fill="hold" grpId="0" nodeType="with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fade">
                                      <p:cBhvr>
                                        <p:cTn id="26" dur="1000"/>
                                        <p:tgtEl>
                                          <p:spTgt spid="3">
                                            <p:txEl>
                                              <p:pRg st="3" end="3"/>
                                            </p:txEl>
                                          </p:spTgt>
                                        </p:tgtEl>
                                      </p:cBhvr>
                                    </p:animEffect>
                                    <p:anim calcmode="lin" valueType="num">
                                      <p:cBhvr>
                                        <p:cTn id="27"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Effect transition="in" filter="fade">
                                      <p:cBhvr>
                                        <p:cTn id="31" dur="1000"/>
                                        <p:tgtEl>
                                          <p:spTgt spid="3">
                                            <p:txEl>
                                              <p:pRg st="4" end="4"/>
                                            </p:txEl>
                                          </p:spTgt>
                                        </p:tgtEl>
                                      </p:cBhvr>
                                    </p:animEffect>
                                    <p:anim calcmode="lin" valueType="num">
                                      <p:cBhvr>
                                        <p:cTn id="3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3"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grpId="0" nodeType="clickEffect">
                                  <p:stCondLst>
                                    <p:cond delay="0"/>
                                  </p:stCondLst>
                                  <p:childTnLst>
                                    <p:set>
                                      <p:cBhvr>
                                        <p:cTn id="37" dur="1" fill="hold">
                                          <p:stCondLst>
                                            <p:cond delay="0"/>
                                          </p:stCondLst>
                                        </p:cTn>
                                        <p:tgtEl>
                                          <p:spTgt spid="3">
                                            <p:txEl>
                                              <p:pRg st="5" end="5"/>
                                            </p:txEl>
                                          </p:spTgt>
                                        </p:tgtEl>
                                        <p:attrNameLst>
                                          <p:attrName>style.visibility</p:attrName>
                                        </p:attrNameLst>
                                      </p:cBhvr>
                                      <p:to>
                                        <p:strVal val="visible"/>
                                      </p:to>
                                    </p:set>
                                    <p:animEffect transition="in" filter="fade">
                                      <p:cBhvr>
                                        <p:cTn id="38" dur="1000"/>
                                        <p:tgtEl>
                                          <p:spTgt spid="3">
                                            <p:txEl>
                                              <p:pRg st="5" end="5"/>
                                            </p:txEl>
                                          </p:spTgt>
                                        </p:tgtEl>
                                      </p:cBhvr>
                                    </p:animEffect>
                                    <p:anim calcmode="lin" valueType="num">
                                      <p:cBhvr>
                                        <p:cTn id="39"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0"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B95E9-E5D0-D2F5-0A12-EEDE8FAC2920}"/>
              </a:ext>
            </a:extLst>
          </p:cNvPr>
          <p:cNvSpPr>
            <a:spLocks noGrp="1"/>
          </p:cNvSpPr>
          <p:nvPr>
            <p:ph type="title"/>
          </p:nvPr>
        </p:nvSpPr>
        <p:spPr>
          <a:xfrm>
            <a:off x="709612" y="135739"/>
            <a:ext cx="10772775" cy="749164"/>
          </a:xfrm>
        </p:spPr>
        <p:txBody>
          <a:bodyPr>
            <a:normAutofit fontScale="90000"/>
          </a:bodyPr>
          <a:lstStyle/>
          <a:p>
            <a:r>
              <a:rPr lang="en-US" dirty="0"/>
              <a:t>A symmetric Encryption Scheme</a:t>
            </a:r>
            <a:endParaRPr lang="en-IN" dirty="0"/>
          </a:p>
        </p:txBody>
      </p:sp>
      <p:sp>
        <p:nvSpPr>
          <p:cNvPr id="3" name="Content Placeholder 2">
            <a:extLst>
              <a:ext uri="{FF2B5EF4-FFF2-40B4-BE49-F238E27FC236}">
                <a16:creationId xmlns:a16="http://schemas.microsoft.com/office/drawing/2014/main" id="{4B5270FC-E5EB-41A1-1FD8-40B51D61E65D}"/>
              </a:ext>
            </a:extLst>
          </p:cNvPr>
          <p:cNvSpPr>
            <a:spLocks noGrp="1"/>
          </p:cNvSpPr>
          <p:nvPr>
            <p:ph idx="1"/>
          </p:nvPr>
        </p:nvSpPr>
        <p:spPr>
          <a:xfrm>
            <a:off x="676656" y="1120877"/>
            <a:ext cx="10753725" cy="5407741"/>
          </a:xfrm>
        </p:spPr>
        <p:txBody>
          <a:bodyPr>
            <a:normAutofit lnSpcReduction="10000"/>
          </a:bodyPr>
          <a:lstStyle/>
          <a:p>
            <a:pPr algn="just">
              <a:lnSpc>
                <a:spcPct val="150000"/>
              </a:lnSpc>
            </a:pPr>
            <a:r>
              <a:rPr lang="en-US" dirty="0">
                <a:latin typeface="Times New Roman" panose="02020603050405020304" pitchFamily="18" charset="0"/>
                <a:cs typeface="Times New Roman" panose="02020603050405020304" pitchFamily="18" charset="0"/>
              </a:rPr>
              <a:t>A symmetric encryption scheme has five ingredients </a:t>
            </a:r>
          </a:p>
          <a:p>
            <a:pPr algn="just">
              <a:lnSpc>
                <a:spcPct val="150000"/>
              </a:lnSpc>
            </a:pPr>
            <a:r>
              <a:rPr lang="en-US" dirty="0">
                <a:latin typeface="Times New Roman" panose="02020603050405020304" pitchFamily="18" charset="0"/>
                <a:cs typeface="Times New Roman" panose="02020603050405020304" pitchFamily="18" charset="0"/>
              </a:rPr>
              <a:t>■ </a:t>
            </a:r>
            <a:r>
              <a:rPr lang="en-US" b="1" i="1" dirty="0">
                <a:latin typeface="Times New Roman" panose="02020603050405020304" pitchFamily="18" charset="0"/>
                <a:cs typeface="Times New Roman" panose="02020603050405020304" pitchFamily="18" charset="0"/>
              </a:rPr>
              <a:t>Plaintext:</a:t>
            </a:r>
            <a:r>
              <a:rPr lang="en-US" dirty="0">
                <a:latin typeface="Times New Roman" panose="02020603050405020304" pitchFamily="18" charset="0"/>
                <a:cs typeface="Times New Roman" panose="02020603050405020304" pitchFamily="18" charset="0"/>
              </a:rPr>
              <a:t> This is the original intelligible message or data that is fed into the algorithm as input. </a:t>
            </a:r>
          </a:p>
          <a:p>
            <a:pPr algn="just">
              <a:lnSpc>
                <a:spcPct val="150000"/>
              </a:lnSpc>
            </a:pPr>
            <a:r>
              <a:rPr lang="en-US" dirty="0">
                <a:latin typeface="Times New Roman" panose="02020603050405020304" pitchFamily="18" charset="0"/>
                <a:cs typeface="Times New Roman" panose="02020603050405020304" pitchFamily="18" charset="0"/>
              </a:rPr>
              <a:t>■ </a:t>
            </a:r>
            <a:r>
              <a:rPr lang="en-US" b="1" i="1" dirty="0">
                <a:latin typeface="Times New Roman" panose="02020603050405020304" pitchFamily="18" charset="0"/>
                <a:cs typeface="Times New Roman" panose="02020603050405020304" pitchFamily="18" charset="0"/>
              </a:rPr>
              <a:t>Encryption algorithm: </a:t>
            </a:r>
            <a:r>
              <a:rPr lang="en-US" dirty="0">
                <a:latin typeface="Times New Roman" panose="02020603050405020304" pitchFamily="18" charset="0"/>
                <a:cs typeface="Times New Roman" panose="02020603050405020304" pitchFamily="18" charset="0"/>
              </a:rPr>
              <a:t>The encryption algorithm performs various substitutions and transformations on the plaintext. </a:t>
            </a:r>
          </a:p>
          <a:p>
            <a:pPr algn="just">
              <a:lnSpc>
                <a:spcPct val="150000"/>
              </a:lnSpc>
            </a:pPr>
            <a:r>
              <a:rPr lang="en-US" b="1" i="1" dirty="0">
                <a:latin typeface="Times New Roman" panose="02020603050405020304" pitchFamily="18" charset="0"/>
                <a:cs typeface="Times New Roman" panose="02020603050405020304" pitchFamily="18" charset="0"/>
              </a:rPr>
              <a:t>■ Secret key: </a:t>
            </a:r>
            <a:r>
              <a:rPr lang="en-US" dirty="0">
                <a:latin typeface="Times New Roman" panose="02020603050405020304" pitchFamily="18" charset="0"/>
                <a:cs typeface="Times New Roman" panose="02020603050405020304" pitchFamily="18" charset="0"/>
              </a:rPr>
              <a:t>The secret key is also input to the encryption algorithm. The key is a value independent of the plaintext and the algorithm. The algorithm will produce a different output depending on the specific key being used at the time. The exact substitutions and transformations performed by the algorithm depend on the key.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38727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anim calcmode="lin" valueType="num">
                                      <p:cBhvr>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1000"/>
                                        <p:tgtEl>
                                          <p:spTgt spid="3">
                                            <p:txEl>
                                              <p:pRg st="3" end="3"/>
                                            </p:txEl>
                                          </p:spTgt>
                                        </p:tgtEl>
                                      </p:cBhvr>
                                    </p:animEffect>
                                    <p:anim calcmode="lin" valueType="num">
                                      <p:cBhvr>
                                        <p:cTn id="22"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20AC6A-A31A-BD3A-279C-10A902FB3381}"/>
              </a:ext>
            </a:extLst>
          </p:cNvPr>
          <p:cNvSpPr>
            <a:spLocks noGrp="1"/>
          </p:cNvSpPr>
          <p:nvPr>
            <p:ph type="title"/>
          </p:nvPr>
        </p:nvSpPr>
        <p:spPr>
          <a:xfrm>
            <a:off x="638328" y="224231"/>
            <a:ext cx="10915344" cy="754080"/>
          </a:xfrm>
        </p:spPr>
        <p:txBody>
          <a:bodyPr>
            <a:normAutofit fontScale="90000"/>
          </a:bodyPr>
          <a:lstStyle/>
          <a:p>
            <a:r>
              <a:rPr lang="en-US" dirty="0"/>
              <a:t>Simplified Model of Symmetric Encryption</a:t>
            </a:r>
            <a:endParaRPr lang="en-IN" dirty="0"/>
          </a:p>
        </p:txBody>
      </p:sp>
      <p:pic>
        <p:nvPicPr>
          <p:cNvPr id="5" name="Content Placeholder 4">
            <a:extLst>
              <a:ext uri="{FF2B5EF4-FFF2-40B4-BE49-F238E27FC236}">
                <a16:creationId xmlns:a16="http://schemas.microsoft.com/office/drawing/2014/main" id="{F40ED79D-6F4A-7C1A-DB06-8A590096B41C}"/>
              </a:ext>
            </a:extLst>
          </p:cNvPr>
          <p:cNvPicPr>
            <a:picLocks noGrp="1" noChangeAspect="1"/>
          </p:cNvPicPr>
          <p:nvPr>
            <p:ph idx="1"/>
          </p:nvPr>
        </p:nvPicPr>
        <p:blipFill>
          <a:blip r:embed="rId2"/>
          <a:stretch>
            <a:fillRect/>
          </a:stretch>
        </p:blipFill>
        <p:spPr>
          <a:xfrm>
            <a:off x="638328" y="1573161"/>
            <a:ext cx="11101388" cy="4306529"/>
          </a:xfrm>
        </p:spPr>
      </p:pic>
    </p:spTree>
    <p:extLst>
      <p:ext uri="{BB962C8B-B14F-4D97-AF65-F5344CB8AC3E}">
        <p14:creationId xmlns:p14="http://schemas.microsoft.com/office/powerpoint/2010/main" val="3298358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2237E-3EC6-DCA0-F4A8-84FC86E0DEF3}"/>
              </a:ext>
            </a:extLst>
          </p:cNvPr>
          <p:cNvSpPr>
            <a:spLocks noGrp="1"/>
          </p:cNvSpPr>
          <p:nvPr>
            <p:ph type="title"/>
          </p:nvPr>
        </p:nvSpPr>
        <p:spPr>
          <a:xfrm>
            <a:off x="709612" y="263559"/>
            <a:ext cx="10772775" cy="650841"/>
          </a:xfrm>
        </p:spPr>
        <p:txBody>
          <a:bodyPr>
            <a:normAutofit fontScale="90000"/>
          </a:bodyPr>
          <a:lstStyle/>
          <a:p>
            <a:r>
              <a:rPr lang="en-US" dirty="0"/>
              <a:t>Contd..</a:t>
            </a:r>
            <a:endParaRPr lang="en-IN" dirty="0"/>
          </a:p>
        </p:txBody>
      </p:sp>
      <p:sp>
        <p:nvSpPr>
          <p:cNvPr id="3" name="Content Placeholder 2">
            <a:extLst>
              <a:ext uri="{FF2B5EF4-FFF2-40B4-BE49-F238E27FC236}">
                <a16:creationId xmlns:a16="http://schemas.microsoft.com/office/drawing/2014/main" id="{CD1DFB22-BB52-2030-A863-A6F52F076CB7}"/>
              </a:ext>
            </a:extLst>
          </p:cNvPr>
          <p:cNvSpPr>
            <a:spLocks noGrp="1"/>
          </p:cNvSpPr>
          <p:nvPr>
            <p:ph idx="1"/>
          </p:nvPr>
        </p:nvSpPr>
        <p:spPr>
          <a:xfrm>
            <a:off x="676656" y="1022555"/>
            <a:ext cx="10805731" cy="5466735"/>
          </a:xfrm>
        </p:spPr>
        <p:txBody>
          <a:bodyPr>
            <a:normAutofit/>
          </a:bodyPr>
          <a:lstStyle/>
          <a:p>
            <a:pPr marL="457200" indent="-457200" algn="just">
              <a:lnSpc>
                <a:spcPct val="150000"/>
              </a:lnSpc>
              <a:buFont typeface="+mj-lt"/>
              <a:buAutoNum type="arabicPeriod"/>
            </a:pPr>
            <a:r>
              <a:rPr lang="en-US" sz="2800" dirty="0">
                <a:latin typeface="Times New Roman" panose="02020603050405020304" pitchFamily="18" charset="0"/>
                <a:cs typeface="Times New Roman" panose="02020603050405020304" pitchFamily="18" charset="0"/>
              </a:rPr>
              <a:t>Encryption Algorithm: - Ciphertext: This is the scrambled message produced as output. It depends on the plaintext and the secret key. For a given message, two different keys will produce two different ciphertexts. The ciphertext is apparently an random stream of data and, as it stands, is unintelligible. </a:t>
            </a:r>
          </a:p>
          <a:p>
            <a:pPr marL="457200" indent="-457200" algn="just">
              <a:lnSpc>
                <a:spcPct val="150000"/>
              </a:lnSpc>
              <a:buFont typeface="+mj-lt"/>
              <a:buAutoNum type="arabicPeriod"/>
            </a:pPr>
            <a:r>
              <a:rPr lang="en-US" sz="2800" dirty="0">
                <a:latin typeface="Times New Roman" panose="02020603050405020304" pitchFamily="18" charset="0"/>
                <a:cs typeface="Times New Roman" panose="02020603050405020304" pitchFamily="18" charset="0"/>
              </a:rPr>
              <a:t>Decryption algorithm: This is essentially the encryption algorithm run in reverse. It takes the ciphertext and the secret key and produces the original plaintext</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185469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61D89-F4A1-7B7F-F60E-0F44B1CC83BF}"/>
              </a:ext>
            </a:extLst>
          </p:cNvPr>
          <p:cNvSpPr>
            <a:spLocks noGrp="1"/>
          </p:cNvSpPr>
          <p:nvPr>
            <p:ph type="title"/>
          </p:nvPr>
        </p:nvSpPr>
        <p:spPr>
          <a:xfrm>
            <a:off x="657606" y="184901"/>
            <a:ext cx="10772775" cy="965473"/>
          </a:xfrm>
        </p:spPr>
        <p:txBody>
          <a:bodyPr>
            <a:normAutofit fontScale="90000"/>
          </a:bodyPr>
          <a:lstStyle/>
          <a:p>
            <a:r>
              <a:rPr lang="en-US" dirty="0"/>
              <a:t>There are two requirements for secure use of conventional encryption:</a:t>
            </a:r>
            <a:endParaRPr lang="en-IN" dirty="0"/>
          </a:p>
        </p:txBody>
      </p:sp>
      <p:sp>
        <p:nvSpPr>
          <p:cNvPr id="3" name="Content Placeholder 2">
            <a:extLst>
              <a:ext uri="{FF2B5EF4-FFF2-40B4-BE49-F238E27FC236}">
                <a16:creationId xmlns:a16="http://schemas.microsoft.com/office/drawing/2014/main" id="{0C300364-89DE-B62F-2944-129CC46ECC13}"/>
              </a:ext>
            </a:extLst>
          </p:cNvPr>
          <p:cNvSpPr>
            <a:spLocks noGrp="1"/>
          </p:cNvSpPr>
          <p:nvPr>
            <p:ph idx="1"/>
          </p:nvPr>
        </p:nvSpPr>
        <p:spPr>
          <a:xfrm>
            <a:off x="676656" y="1524001"/>
            <a:ext cx="10753725" cy="5063612"/>
          </a:xfrm>
        </p:spPr>
        <p:txBody>
          <a:bodyPr>
            <a:normAutofit lnSpcReduction="10000"/>
          </a:bodyPr>
          <a:lstStyle/>
          <a:p>
            <a:pPr algn="just">
              <a:lnSpc>
                <a:spcPct val="150000"/>
              </a:lnSpc>
            </a:pPr>
            <a:r>
              <a:rPr lang="en-US" sz="2800" dirty="0">
                <a:latin typeface="Times New Roman" panose="02020603050405020304" pitchFamily="18" charset="0"/>
                <a:cs typeface="Times New Roman" panose="02020603050405020304" pitchFamily="18" charset="0"/>
              </a:rPr>
              <a:t>1. We need a strong encryption algorithm. At minimum, we would like the algorithm to be such that an opponent who knows the algorithm and has access to one or more ciphertexts would be unable to decipher the ciphertext or figure out the key.</a:t>
            </a:r>
          </a:p>
          <a:p>
            <a:pPr marL="0" indent="0" algn="just">
              <a:lnSpc>
                <a:spcPct val="150000"/>
              </a:lnSpc>
              <a:buNone/>
            </a:pPr>
            <a:r>
              <a:rPr lang="en-US" sz="2800" dirty="0">
                <a:latin typeface="Times New Roman" panose="02020603050405020304" pitchFamily="18" charset="0"/>
                <a:cs typeface="Times New Roman" panose="02020603050405020304" pitchFamily="18" charset="0"/>
              </a:rPr>
              <a:t>2. Sender and receiver must have obtained copies of the secret key in a secure fashion and must keep the key secure. If someone can discover the key and knows the algorithm, all communication using this key is readable.</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666304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E538C4-D2E8-8FC6-5E93-C05726AA25C5}"/>
              </a:ext>
            </a:extLst>
          </p:cNvPr>
          <p:cNvSpPr>
            <a:spLocks noGrp="1"/>
          </p:cNvSpPr>
          <p:nvPr>
            <p:ph type="title"/>
          </p:nvPr>
        </p:nvSpPr>
        <p:spPr>
          <a:xfrm>
            <a:off x="588398" y="214397"/>
            <a:ext cx="10772775" cy="579967"/>
          </a:xfrm>
        </p:spPr>
        <p:txBody>
          <a:bodyPr>
            <a:normAutofit fontScale="90000"/>
          </a:bodyPr>
          <a:lstStyle/>
          <a:p>
            <a:r>
              <a:rPr lang="en-IN" dirty="0"/>
              <a:t>Model of Symmetric Cryptosystem</a:t>
            </a:r>
          </a:p>
        </p:txBody>
      </p:sp>
      <p:pic>
        <p:nvPicPr>
          <p:cNvPr id="5" name="Content Placeholder 4">
            <a:extLst>
              <a:ext uri="{FF2B5EF4-FFF2-40B4-BE49-F238E27FC236}">
                <a16:creationId xmlns:a16="http://schemas.microsoft.com/office/drawing/2014/main" id="{CE56A9C7-7F42-3C4F-195B-3B8DF0CE8205}"/>
              </a:ext>
            </a:extLst>
          </p:cNvPr>
          <p:cNvPicPr>
            <a:picLocks noGrp="1" noChangeAspect="1"/>
          </p:cNvPicPr>
          <p:nvPr>
            <p:ph idx="1"/>
          </p:nvPr>
        </p:nvPicPr>
        <p:blipFill>
          <a:blip r:embed="rId2"/>
          <a:stretch>
            <a:fillRect/>
          </a:stretch>
        </p:blipFill>
        <p:spPr>
          <a:xfrm>
            <a:off x="1465006" y="973395"/>
            <a:ext cx="9153833" cy="5584722"/>
          </a:xfrm>
        </p:spPr>
      </p:pic>
    </p:spTree>
    <p:extLst>
      <p:ext uri="{BB962C8B-B14F-4D97-AF65-F5344CB8AC3E}">
        <p14:creationId xmlns:p14="http://schemas.microsoft.com/office/powerpoint/2010/main" val="24914128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4F4782-5D67-4CB1-3A47-696F37401895}"/>
              </a:ext>
            </a:extLst>
          </p:cNvPr>
          <p:cNvSpPr>
            <a:spLocks noGrp="1"/>
          </p:cNvSpPr>
          <p:nvPr>
            <p:ph type="title"/>
          </p:nvPr>
        </p:nvSpPr>
        <p:spPr>
          <a:xfrm>
            <a:off x="638174" y="78659"/>
            <a:ext cx="10772775" cy="658760"/>
          </a:xfrm>
        </p:spPr>
        <p:txBody>
          <a:bodyPr>
            <a:normAutofit fontScale="90000"/>
          </a:bodyPr>
          <a:lstStyle/>
          <a:p>
            <a:r>
              <a:rPr lang="en-IN" sz="4400" dirty="0"/>
              <a:t>Cryptanalysis and Brute-Force Attack</a:t>
            </a:r>
            <a:endParaRPr lang="en-IN" dirty="0"/>
          </a:p>
        </p:txBody>
      </p:sp>
      <p:sp>
        <p:nvSpPr>
          <p:cNvPr id="3" name="Content Placeholder 2">
            <a:extLst>
              <a:ext uri="{FF2B5EF4-FFF2-40B4-BE49-F238E27FC236}">
                <a16:creationId xmlns:a16="http://schemas.microsoft.com/office/drawing/2014/main" id="{BFC2B7B4-0A0C-3FA9-F846-B915533E1320}"/>
              </a:ext>
            </a:extLst>
          </p:cNvPr>
          <p:cNvSpPr>
            <a:spLocks noGrp="1"/>
          </p:cNvSpPr>
          <p:nvPr>
            <p:ph idx="1"/>
          </p:nvPr>
        </p:nvSpPr>
        <p:spPr>
          <a:xfrm>
            <a:off x="676656" y="806245"/>
            <a:ext cx="10876247" cy="5732207"/>
          </a:xfrm>
        </p:spPr>
        <p:txBody>
          <a:bodyPr>
            <a:normAutofit/>
          </a:bodyPr>
          <a:lstStyle/>
          <a:p>
            <a:pPr algn="just">
              <a:lnSpc>
                <a:spcPct val="150000"/>
              </a:lnSpc>
            </a:pPr>
            <a:r>
              <a:rPr lang="en-US" sz="2800" b="1" i="1" dirty="0">
                <a:latin typeface="Times New Roman" panose="02020603050405020304" pitchFamily="18" charset="0"/>
                <a:cs typeface="Times New Roman" panose="02020603050405020304" pitchFamily="18" charset="0"/>
              </a:rPr>
              <a:t>Cryptanalysis:</a:t>
            </a:r>
            <a:r>
              <a:rPr lang="en-US" sz="2800" dirty="0">
                <a:latin typeface="Times New Roman" panose="02020603050405020304" pitchFamily="18" charset="0"/>
                <a:cs typeface="Times New Roman" panose="02020603050405020304" pitchFamily="18" charset="0"/>
              </a:rPr>
              <a:t> Cryptanalytic attacks rely on the nature of the algorithm,  plus perhaps some knowledge of the general characteristics of the plaintext or even some sample plaintext–ciphertext pairs. This type of attack exploits the characteristics of the algorithm to attempt to deduce a specific plaintext or to deduce the key being used.</a:t>
            </a:r>
          </a:p>
          <a:p>
            <a:pPr algn="just">
              <a:lnSpc>
                <a:spcPct val="150000"/>
              </a:lnSpc>
            </a:pPr>
            <a:r>
              <a:rPr lang="en-US" sz="2800" b="1" i="1" dirty="0">
                <a:latin typeface="Times New Roman" panose="02020603050405020304" pitchFamily="18" charset="0"/>
                <a:cs typeface="Times New Roman" panose="02020603050405020304" pitchFamily="18" charset="0"/>
              </a:rPr>
              <a:t>Brute-force attack: </a:t>
            </a:r>
            <a:r>
              <a:rPr lang="en-US" sz="2800" dirty="0">
                <a:latin typeface="Times New Roman" panose="02020603050405020304" pitchFamily="18" charset="0"/>
                <a:cs typeface="Times New Roman" panose="02020603050405020304" pitchFamily="18" charset="0"/>
              </a:rPr>
              <a:t>The attacker tries every possible key on a piece of cipher text until an intelligible translation into plaintext is obtained. On average, half of all possible keys must be tried to achieve success</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879816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72E9C7C-AEDE-5F06-6FF9-58429B071CFC}"/>
              </a:ext>
            </a:extLst>
          </p:cNvPr>
          <p:cNvPicPr>
            <a:picLocks noChangeAspect="1"/>
          </p:cNvPicPr>
          <p:nvPr/>
        </p:nvPicPr>
        <p:blipFill>
          <a:blip r:embed="rId2"/>
          <a:stretch>
            <a:fillRect/>
          </a:stretch>
        </p:blipFill>
        <p:spPr>
          <a:xfrm>
            <a:off x="737419" y="530942"/>
            <a:ext cx="10766323" cy="6066503"/>
          </a:xfrm>
          <a:prstGeom prst="rect">
            <a:avLst/>
          </a:prstGeom>
        </p:spPr>
      </p:pic>
    </p:spTree>
    <p:extLst>
      <p:ext uri="{BB962C8B-B14F-4D97-AF65-F5344CB8AC3E}">
        <p14:creationId xmlns:p14="http://schemas.microsoft.com/office/powerpoint/2010/main" val="32970237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82980-B34D-2189-F48F-9444BE95FE5C}"/>
              </a:ext>
            </a:extLst>
          </p:cNvPr>
          <p:cNvSpPr>
            <a:spLocks noGrp="1"/>
          </p:cNvSpPr>
          <p:nvPr>
            <p:ph type="title"/>
          </p:nvPr>
        </p:nvSpPr>
        <p:spPr>
          <a:xfrm>
            <a:off x="676656" y="165237"/>
            <a:ext cx="10772775" cy="650841"/>
          </a:xfrm>
        </p:spPr>
        <p:txBody>
          <a:bodyPr>
            <a:normAutofit fontScale="90000"/>
          </a:bodyPr>
          <a:lstStyle/>
          <a:p>
            <a:r>
              <a:rPr lang="en-US" dirty="0"/>
              <a:t>Encryption Scheme</a:t>
            </a:r>
            <a:endParaRPr lang="en-IN" dirty="0"/>
          </a:p>
        </p:txBody>
      </p:sp>
      <p:sp>
        <p:nvSpPr>
          <p:cNvPr id="3" name="Content Placeholder 2">
            <a:extLst>
              <a:ext uri="{FF2B5EF4-FFF2-40B4-BE49-F238E27FC236}">
                <a16:creationId xmlns:a16="http://schemas.microsoft.com/office/drawing/2014/main" id="{B1B87452-FBCB-639F-BC94-461C54278846}"/>
              </a:ext>
            </a:extLst>
          </p:cNvPr>
          <p:cNvSpPr>
            <a:spLocks noGrp="1"/>
          </p:cNvSpPr>
          <p:nvPr>
            <p:ph idx="1"/>
          </p:nvPr>
        </p:nvSpPr>
        <p:spPr>
          <a:xfrm>
            <a:off x="676656" y="973394"/>
            <a:ext cx="10753725" cy="5525729"/>
          </a:xfrm>
        </p:spPr>
        <p:txBody>
          <a:bodyPr>
            <a:normAutofit fontScale="92500"/>
          </a:bodyPr>
          <a:lstStyle/>
          <a:p>
            <a:pPr algn="just">
              <a:lnSpc>
                <a:spcPct val="150000"/>
              </a:lnSpc>
            </a:pPr>
            <a:r>
              <a:rPr lang="en-US" dirty="0">
                <a:latin typeface="Times New Roman" panose="02020603050405020304" pitchFamily="18" charset="0"/>
                <a:cs typeface="Times New Roman" panose="02020603050405020304" pitchFamily="18" charset="0"/>
              </a:rPr>
              <a:t>An encryption scheme is </a:t>
            </a:r>
            <a:r>
              <a:rPr lang="en-US" sz="2800" b="1" i="1" dirty="0">
                <a:latin typeface="Times New Roman" panose="02020603050405020304" pitchFamily="18" charset="0"/>
                <a:cs typeface="Times New Roman" panose="02020603050405020304" pitchFamily="18" charset="0"/>
              </a:rPr>
              <a:t>unconditionally secure </a:t>
            </a:r>
            <a:r>
              <a:rPr lang="en-US" dirty="0">
                <a:latin typeface="Times New Roman" panose="02020603050405020304" pitchFamily="18" charset="0"/>
                <a:cs typeface="Times New Roman" panose="02020603050405020304" pitchFamily="18" charset="0"/>
              </a:rPr>
              <a:t>if the ciphertext generated by the scheme does not contain enough information to determine uniquely the corresponding plaintext, no matter how much ciphertext is available.</a:t>
            </a:r>
          </a:p>
          <a:p>
            <a:pPr algn="just">
              <a:lnSpc>
                <a:spcPct val="150000"/>
              </a:lnSpc>
            </a:pPr>
            <a:r>
              <a:rPr lang="en-US" dirty="0">
                <a:latin typeface="Times New Roman" panose="02020603050405020304" pitchFamily="18" charset="0"/>
                <a:cs typeface="Times New Roman" panose="02020603050405020304" pitchFamily="18" charset="0"/>
              </a:rPr>
              <a:t>Therefore, all that the users of an encryption algorithm can strive for is an algorithm that meets one or both of the following criteria: </a:t>
            </a:r>
          </a:p>
          <a:p>
            <a:pPr algn="just">
              <a:lnSpc>
                <a:spcPct val="150000"/>
              </a:lnSpc>
            </a:pPr>
            <a:r>
              <a:rPr lang="en-US" dirty="0">
                <a:latin typeface="Times New Roman" panose="02020603050405020304" pitchFamily="18" charset="0"/>
                <a:cs typeface="Times New Roman" panose="02020603050405020304" pitchFamily="18" charset="0"/>
              </a:rPr>
              <a:t>■ </a:t>
            </a:r>
            <a:r>
              <a:rPr lang="en-US" b="1" i="1" dirty="0">
                <a:latin typeface="Times New Roman" panose="02020603050405020304" pitchFamily="18" charset="0"/>
                <a:cs typeface="Times New Roman" panose="02020603050405020304" pitchFamily="18" charset="0"/>
              </a:rPr>
              <a:t>The cost of breaking the cipher exceeds the value of the encrypted information</a:t>
            </a:r>
            <a:r>
              <a:rPr lang="en-US" dirty="0">
                <a:latin typeface="Times New Roman" panose="02020603050405020304" pitchFamily="18" charset="0"/>
                <a:cs typeface="Times New Roman" panose="02020603050405020304" pitchFamily="18" charset="0"/>
              </a:rPr>
              <a:t>. </a:t>
            </a:r>
          </a:p>
          <a:p>
            <a:pPr algn="just">
              <a:lnSpc>
                <a:spcPct val="150000"/>
              </a:lnSpc>
            </a:pPr>
            <a:r>
              <a:rPr lang="en-US" dirty="0">
                <a:latin typeface="Times New Roman" panose="02020603050405020304" pitchFamily="18" charset="0"/>
                <a:cs typeface="Times New Roman" panose="02020603050405020304" pitchFamily="18" charset="0"/>
              </a:rPr>
              <a:t>■ </a:t>
            </a:r>
            <a:r>
              <a:rPr lang="en-US" b="1" i="1" dirty="0">
                <a:latin typeface="Times New Roman" panose="02020603050405020304" pitchFamily="18" charset="0"/>
                <a:cs typeface="Times New Roman" panose="02020603050405020304" pitchFamily="18" charset="0"/>
              </a:rPr>
              <a:t>The time required to break the cipher exceeds the useful lifetime of the information</a:t>
            </a:r>
          </a:p>
          <a:p>
            <a:pPr algn="just">
              <a:lnSpc>
                <a:spcPct val="150000"/>
              </a:lnSpc>
            </a:pPr>
            <a:r>
              <a:rPr lang="en-US" dirty="0">
                <a:latin typeface="Times New Roman" panose="02020603050405020304" pitchFamily="18" charset="0"/>
                <a:cs typeface="Times New Roman" panose="02020603050405020304" pitchFamily="18" charset="0"/>
              </a:rPr>
              <a:t>An encryption scheme is said to be </a:t>
            </a:r>
            <a:r>
              <a:rPr lang="en-US" sz="2800" b="1" i="1" dirty="0">
                <a:latin typeface="Times New Roman" panose="02020603050405020304" pitchFamily="18" charset="0"/>
                <a:cs typeface="Times New Roman" panose="02020603050405020304" pitchFamily="18" charset="0"/>
              </a:rPr>
              <a:t>computationally secure </a:t>
            </a:r>
            <a:r>
              <a:rPr lang="en-US" dirty="0">
                <a:latin typeface="Times New Roman" panose="02020603050405020304" pitchFamily="18" charset="0"/>
                <a:cs typeface="Times New Roman" panose="02020603050405020304" pitchFamily="18" charset="0"/>
              </a:rPr>
              <a:t>if either of the foregoing two criteria are met.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34572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barn(inVertical)">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barn(inVertical)">
                                      <p:cBhvr>
                                        <p:cTn id="1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0382A-E864-7781-967C-44750C92B020}"/>
              </a:ext>
            </a:extLst>
          </p:cNvPr>
          <p:cNvSpPr>
            <a:spLocks noGrp="1"/>
          </p:cNvSpPr>
          <p:nvPr>
            <p:ph type="title"/>
          </p:nvPr>
        </p:nvSpPr>
        <p:spPr>
          <a:xfrm>
            <a:off x="904568" y="125907"/>
            <a:ext cx="10577819" cy="798325"/>
          </a:xfrm>
        </p:spPr>
        <p:txBody>
          <a:bodyPr/>
          <a:lstStyle/>
          <a:p>
            <a:r>
              <a:rPr lang="en-US" dirty="0"/>
              <a:t>A brute-force attack</a:t>
            </a:r>
            <a:endParaRPr lang="en-IN" dirty="0"/>
          </a:p>
        </p:txBody>
      </p:sp>
      <p:sp>
        <p:nvSpPr>
          <p:cNvPr id="3" name="Content Placeholder 2">
            <a:extLst>
              <a:ext uri="{FF2B5EF4-FFF2-40B4-BE49-F238E27FC236}">
                <a16:creationId xmlns:a16="http://schemas.microsoft.com/office/drawing/2014/main" id="{FFC5F0FA-BAAF-125D-046D-B6951DF223FC}"/>
              </a:ext>
            </a:extLst>
          </p:cNvPr>
          <p:cNvSpPr>
            <a:spLocks noGrp="1"/>
          </p:cNvSpPr>
          <p:nvPr>
            <p:ph idx="1"/>
          </p:nvPr>
        </p:nvSpPr>
        <p:spPr>
          <a:xfrm>
            <a:off x="676656" y="1150374"/>
            <a:ext cx="10753725" cy="5319252"/>
          </a:xfrm>
        </p:spPr>
        <p:txBody>
          <a:bodyPr>
            <a:normAutofit fontScale="92500" lnSpcReduction="10000"/>
          </a:bodyPr>
          <a:lstStyle/>
          <a:p>
            <a:pPr algn="just">
              <a:lnSpc>
                <a:spcPct val="150000"/>
              </a:lnSpc>
            </a:pPr>
            <a:r>
              <a:rPr lang="en-US" sz="3200" dirty="0">
                <a:latin typeface="Times New Roman" panose="02020603050405020304" pitchFamily="18" charset="0"/>
                <a:cs typeface="Times New Roman" panose="02020603050405020304" pitchFamily="18" charset="0"/>
              </a:rPr>
              <a:t>A brute-force attack involves trying every possible key until an intelligible translation of the ciphertext into plaintext is obtained. On average, half of all possible keys must be tried to achieve success.</a:t>
            </a:r>
          </a:p>
          <a:p>
            <a:pPr algn="just">
              <a:lnSpc>
                <a:spcPct val="150000"/>
              </a:lnSpc>
            </a:pPr>
            <a:r>
              <a:rPr lang="en-US" sz="3200" dirty="0">
                <a:latin typeface="Times New Roman" panose="02020603050405020304" pitchFamily="18" charset="0"/>
                <a:cs typeface="Times New Roman" panose="02020603050405020304" pitchFamily="18" charset="0"/>
              </a:rPr>
              <a:t>That is:  if there are X different keys, on average an attacker would discover the actual key after X/2 tries. It is important to note that there is more to a brute-force attack than simply running through all possible keys.</a:t>
            </a:r>
            <a:endParaRPr lang="en-IN"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657468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C3531C-E528-53F0-D780-F30256D774C6}"/>
              </a:ext>
            </a:extLst>
          </p:cNvPr>
          <p:cNvSpPr>
            <a:spLocks noGrp="1"/>
          </p:cNvSpPr>
          <p:nvPr>
            <p:ph type="title"/>
          </p:nvPr>
        </p:nvSpPr>
        <p:spPr>
          <a:xfrm>
            <a:off x="867747" y="116075"/>
            <a:ext cx="10483594" cy="554048"/>
          </a:xfrm>
        </p:spPr>
        <p:txBody>
          <a:bodyPr>
            <a:normAutofit fontScale="90000"/>
          </a:bodyPr>
          <a:lstStyle/>
          <a:p>
            <a:r>
              <a:rPr lang="en-US" dirty="0"/>
              <a:t>Substitution</a:t>
            </a:r>
            <a:endParaRPr lang="en-IN" dirty="0"/>
          </a:p>
        </p:txBody>
      </p:sp>
      <p:sp>
        <p:nvSpPr>
          <p:cNvPr id="3" name="Content Placeholder 2">
            <a:extLst>
              <a:ext uri="{FF2B5EF4-FFF2-40B4-BE49-F238E27FC236}">
                <a16:creationId xmlns:a16="http://schemas.microsoft.com/office/drawing/2014/main" id="{052758A0-748A-83B3-EDD7-52651E820808}"/>
              </a:ext>
            </a:extLst>
          </p:cNvPr>
          <p:cNvSpPr>
            <a:spLocks noGrp="1"/>
          </p:cNvSpPr>
          <p:nvPr>
            <p:ph idx="1"/>
          </p:nvPr>
        </p:nvSpPr>
        <p:spPr>
          <a:xfrm>
            <a:off x="676656" y="670123"/>
            <a:ext cx="10954905" cy="6071801"/>
          </a:xfrm>
        </p:spPr>
        <p:txBody>
          <a:bodyPr>
            <a:normAutofit fontScale="92500" lnSpcReduction="20000"/>
          </a:bodyPr>
          <a:lstStyle/>
          <a:p>
            <a:pPr algn="just">
              <a:lnSpc>
                <a:spcPct val="150000"/>
              </a:lnSpc>
            </a:pPr>
            <a:r>
              <a:rPr lang="en-US" sz="2800" dirty="0">
                <a:latin typeface="Times New Roman" panose="02020603050405020304" pitchFamily="18" charset="0"/>
                <a:cs typeface="Times New Roman" panose="02020603050405020304" pitchFamily="18" charset="0"/>
              </a:rPr>
              <a:t>The two basic building blocks of all encryption techniques are substitution and transposition.</a:t>
            </a:r>
          </a:p>
          <a:p>
            <a:pPr algn="just">
              <a:lnSpc>
                <a:spcPct val="150000"/>
              </a:lnSpc>
            </a:pPr>
            <a:r>
              <a:rPr lang="en-US" sz="2800" dirty="0">
                <a:latin typeface="Times New Roman" panose="02020603050405020304" pitchFamily="18" charset="0"/>
                <a:cs typeface="Times New Roman" panose="02020603050405020304" pitchFamily="18" charset="0"/>
              </a:rPr>
              <a:t>A substitution technique is one in which the letters of plaintext are replaced by other letters or by numbers or symbols.</a:t>
            </a:r>
          </a:p>
          <a:p>
            <a:pPr algn="just">
              <a:lnSpc>
                <a:spcPct val="150000"/>
              </a:lnSpc>
            </a:pPr>
            <a:r>
              <a:rPr lang="en-US" sz="2800" dirty="0">
                <a:latin typeface="Times New Roman" panose="02020603050405020304" pitchFamily="18" charset="0"/>
                <a:cs typeface="Times New Roman" panose="02020603050405020304" pitchFamily="18" charset="0"/>
              </a:rPr>
              <a:t>If the plaintext is viewed as a sequence of bits, then substitution involves replacing plaintext bit patterns with ciphertext bit patterns.</a:t>
            </a:r>
          </a:p>
          <a:p>
            <a:pPr algn="just">
              <a:lnSpc>
                <a:spcPct val="150000"/>
              </a:lnSpc>
            </a:pPr>
            <a:r>
              <a:rPr lang="en-US" sz="2800" dirty="0">
                <a:latin typeface="Times New Roman" panose="02020603050405020304" pitchFamily="18" charset="0"/>
                <a:cs typeface="Times New Roman" panose="02020603050405020304" pitchFamily="18" charset="0"/>
              </a:rPr>
              <a:t>The earliest known, and the simplest, use of a substitution cipher was by Julius Caesar. The </a:t>
            </a:r>
            <a:r>
              <a:rPr lang="en-US" sz="2800" b="1" i="1" dirty="0">
                <a:latin typeface="Times New Roman" panose="02020603050405020304" pitchFamily="18" charset="0"/>
                <a:cs typeface="Times New Roman" panose="02020603050405020304" pitchFamily="18" charset="0"/>
              </a:rPr>
              <a:t>Caesar cipher </a:t>
            </a:r>
            <a:r>
              <a:rPr lang="en-US" sz="2800" dirty="0">
                <a:latin typeface="Times New Roman" panose="02020603050405020304" pitchFamily="18" charset="0"/>
                <a:cs typeface="Times New Roman" panose="02020603050405020304" pitchFamily="18" charset="0"/>
              </a:rPr>
              <a:t>involves replacing each letter of the alphabet with the letter standing three places further down the alphabet. </a:t>
            </a:r>
          </a:p>
          <a:p>
            <a:pPr algn="just">
              <a:lnSpc>
                <a:spcPct val="150000"/>
              </a:lnSpc>
            </a:pPr>
            <a:r>
              <a:rPr lang="en-US" sz="2800" dirty="0">
                <a:latin typeface="Times New Roman" panose="02020603050405020304" pitchFamily="18" charset="0"/>
                <a:cs typeface="Times New Roman" panose="02020603050405020304" pitchFamily="18" charset="0"/>
              </a:rPr>
              <a:t>For example, </a:t>
            </a:r>
          </a:p>
        </p:txBody>
      </p:sp>
    </p:spTree>
    <p:extLst>
      <p:ext uri="{BB962C8B-B14F-4D97-AF65-F5344CB8AC3E}">
        <p14:creationId xmlns:p14="http://schemas.microsoft.com/office/powerpoint/2010/main" val="27266921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fade">
                                      <p:cBhvr>
                                        <p:cTn id="19" dur="1000"/>
                                        <p:tgtEl>
                                          <p:spTgt spid="3">
                                            <p:txEl>
                                              <p:pRg st="3" end="3"/>
                                            </p:txEl>
                                          </p:spTgt>
                                        </p:tgtEl>
                                      </p:cBhvr>
                                    </p:animEffect>
                                    <p:anim calcmode="lin" valueType="num">
                                      <p:cBhvr>
                                        <p:cTn id="20"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D3C547-1542-FFF6-5668-D4FB39379327}"/>
              </a:ext>
            </a:extLst>
          </p:cNvPr>
          <p:cNvSpPr>
            <a:spLocks noGrp="1"/>
          </p:cNvSpPr>
          <p:nvPr>
            <p:ph type="title"/>
          </p:nvPr>
        </p:nvSpPr>
        <p:spPr>
          <a:xfrm>
            <a:off x="914885" y="3163078"/>
            <a:ext cx="9945948" cy="635564"/>
          </a:xfrm>
        </p:spPr>
        <p:txBody>
          <a:bodyPr>
            <a:normAutofit fontScale="90000"/>
          </a:bodyPr>
          <a:lstStyle/>
          <a:p>
            <a:r>
              <a:rPr lang="en-US" dirty="0"/>
              <a:t>A numerical equivalent to each letter:</a:t>
            </a:r>
            <a:endParaRPr lang="en-IN" dirty="0"/>
          </a:p>
        </p:txBody>
      </p:sp>
      <p:pic>
        <p:nvPicPr>
          <p:cNvPr id="5" name="Content Placeholder 4">
            <a:extLst>
              <a:ext uri="{FF2B5EF4-FFF2-40B4-BE49-F238E27FC236}">
                <a16:creationId xmlns:a16="http://schemas.microsoft.com/office/drawing/2014/main" id="{853CA310-7D95-4FA9-E280-B0197BBFFA56}"/>
              </a:ext>
            </a:extLst>
          </p:cNvPr>
          <p:cNvPicPr>
            <a:picLocks noGrp="1" noChangeAspect="1"/>
          </p:cNvPicPr>
          <p:nvPr>
            <p:ph idx="1"/>
          </p:nvPr>
        </p:nvPicPr>
        <p:blipFill>
          <a:blip r:embed="rId2"/>
          <a:stretch>
            <a:fillRect/>
          </a:stretch>
        </p:blipFill>
        <p:spPr>
          <a:xfrm>
            <a:off x="3348037" y="3285331"/>
            <a:ext cx="5410200" cy="1219200"/>
          </a:xfrm>
        </p:spPr>
      </p:pic>
      <p:pic>
        <p:nvPicPr>
          <p:cNvPr id="4" name="Picture 3">
            <a:extLst>
              <a:ext uri="{FF2B5EF4-FFF2-40B4-BE49-F238E27FC236}">
                <a16:creationId xmlns:a16="http://schemas.microsoft.com/office/drawing/2014/main" id="{5209CED7-B771-A4BD-01E5-A8F61C32D7B5}"/>
              </a:ext>
            </a:extLst>
          </p:cNvPr>
          <p:cNvPicPr>
            <a:picLocks noChangeAspect="1"/>
          </p:cNvPicPr>
          <p:nvPr/>
        </p:nvPicPr>
        <p:blipFill>
          <a:blip r:embed="rId3"/>
          <a:stretch>
            <a:fillRect/>
          </a:stretch>
        </p:blipFill>
        <p:spPr>
          <a:xfrm>
            <a:off x="914885" y="307955"/>
            <a:ext cx="10384971" cy="1011452"/>
          </a:xfrm>
          <a:prstGeom prst="rect">
            <a:avLst/>
          </a:prstGeom>
        </p:spPr>
      </p:pic>
      <p:graphicFrame>
        <p:nvGraphicFramePr>
          <p:cNvPr id="3" name="Table 2">
            <a:extLst>
              <a:ext uri="{FF2B5EF4-FFF2-40B4-BE49-F238E27FC236}">
                <a16:creationId xmlns:a16="http://schemas.microsoft.com/office/drawing/2014/main" id="{E87B84EA-EC0D-B4AC-2A45-7ED26E9B0B13}"/>
              </a:ext>
            </a:extLst>
          </p:cNvPr>
          <p:cNvGraphicFramePr>
            <a:graphicFrameLocks noGrp="1"/>
          </p:cNvGraphicFramePr>
          <p:nvPr>
            <p:extLst>
              <p:ext uri="{D42A27DB-BD31-4B8C-83A1-F6EECF244321}">
                <p14:modId xmlns:p14="http://schemas.microsoft.com/office/powerpoint/2010/main" val="1188747997"/>
              </p:ext>
            </p:extLst>
          </p:nvPr>
        </p:nvGraphicFramePr>
        <p:xfrm>
          <a:off x="989040" y="1452237"/>
          <a:ext cx="10384976" cy="1380932"/>
        </p:xfrm>
        <a:graphic>
          <a:graphicData uri="http://schemas.openxmlformats.org/drawingml/2006/table">
            <a:tbl>
              <a:tblPr firstRow="1" bandRow="1">
                <a:tableStyleId>{5C22544A-7EE6-4342-B048-85BDC9FD1C3A}</a:tableStyleId>
              </a:tblPr>
              <a:tblGrid>
                <a:gridCol w="1483568">
                  <a:extLst>
                    <a:ext uri="{9D8B030D-6E8A-4147-A177-3AD203B41FA5}">
                      <a16:colId xmlns:a16="http://schemas.microsoft.com/office/drawing/2014/main" val="2350113952"/>
                    </a:ext>
                  </a:extLst>
                </a:gridCol>
                <a:gridCol w="1483568">
                  <a:extLst>
                    <a:ext uri="{9D8B030D-6E8A-4147-A177-3AD203B41FA5}">
                      <a16:colId xmlns:a16="http://schemas.microsoft.com/office/drawing/2014/main" val="1488989375"/>
                    </a:ext>
                  </a:extLst>
                </a:gridCol>
                <a:gridCol w="1483568">
                  <a:extLst>
                    <a:ext uri="{9D8B030D-6E8A-4147-A177-3AD203B41FA5}">
                      <a16:colId xmlns:a16="http://schemas.microsoft.com/office/drawing/2014/main" val="284371515"/>
                    </a:ext>
                  </a:extLst>
                </a:gridCol>
                <a:gridCol w="1483568">
                  <a:extLst>
                    <a:ext uri="{9D8B030D-6E8A-4147-A177-3AD203B41FA5}">
                      <a16:colId xmlns:a16="http://schemas.microsoft.com/office/drawing/2014/main" val="2352593448"/>
                    </a:ext>
                  </a:extLst>
                </a:gridCol>
                <a:gridCol w="1483568">
                  <a:extLst>
                    <a:ext uri="{9D8B030D-6E8A-4147-A177-3AD203B41FA5}">
                      <a16:colId xmlns:a16="http://schemas.microsoft.com/office/drawing/2014/main" val="3511567652"/>
                    </a:ext>
                  </a:extLst>
                </a:gridCol>
                <a:gridCol w="1483568">
                  <a:extLst>
                    <a:ext uri="{9D8B030D-6E8A-4147-A177-3AD203B41FA5}">
                      <a16:colId xmlns:a16="http://schemas.microsoft.com/office/drawing/2014/main" val="1719515897"/>
                    </a:ext>
                  </a:extLst>
                </a:gridCol>
                <a:gridCol w="1483568">
                  <a:extLst>
                    <a:ext uri="{9D8B030D-6E8A-4147-A177-3AD203B41FA5}">
                      <a16:colId xmlns:a16="http://schemas.microsoft.com/office/drawing/2014/main" val="3739824105"/>
                    </a:ext>
                  </a:extLst>
                </a:gridCol>
              </a:tblGrid>
              <a:tr h="690466">
                <a:tc>
                  <a:txBody>
                    <a:bodyPr/>
                    <a:lstStyle/>
                    <a:p>
                      <a:r>
                        <a:rPr lang="en-US" sz="2800" dirty="0">
                          <a:latin typeface="Times New Roman" panose="02020603050405020304" pitchFamily="18" charset="0"/>
                          <a:cs typeface="Times New Roman" panose="02020603050405020304" pitchFamily="18" charset="0"/>
                        </a:rPr>
                        <a:t>plain:</a:t>
                      </a:r>
                      <a:endParaRPr lang="en-IN" sz="28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dirty="0">
                          <a:latin typeface="Times New Roman" panose="02020603050405020304" pitchFamily="18" charset="0"/>
                          <a:cs typeface="Times New Roman" panose="02020603050405020304" pitchFamily="18" charset="0"/>
                        </a:rPr>
                        <a:t>meet</a:t>
                      </a:r>
                      <a:endParaRPr lang="en-IN" sz="2800" dirty="0">
                        <a:latin typeface="Times New Roman" panose="02020603050405020304" pitchFamily="18" charset="0"/>
                        <a:cs typeface="Times New Roman" panose="02020603050405020304" pitchFamily="18" charset="0"/>
                      </a:endParaRPr>
                    </a:p>
                  </a:txBody>
                  <a:tcPr/>
                </a:tc>
                <a:tc>
                  <a:txBody>
                    <a:bodyPr/>
                    <a:lstStyle/>
                    <a:p>
                      <a:r>
                        <a:rPr lang="en-US" sz="2800" dirty="0">
                          <a:latin typeface="Times New Roman" panose="02020603050405020304" pitchFamily="18" charset="0"/>
                          <a:cs typeface="Times New Roman" panose="02020603050405020304" pitchFamily="18" charset="0"/>
                        </a:rPr>
                        <a:t>me</a:t>
                      </a:r>
                      <a:endParaRPr lang="en-IN" sz="2800" dirty="0">
                        <a:latin typeface="Times New Roman" panose="02020603050405020304" pitchFamily="18" charset="0"/>
                        <a:cs typeface="Times New Roman" panose="02020603050405020304" pitchFamily="18" charset="0"/>
                      </a:endParaRPr>
                    </a:p>
                  </a:txBody>
                  <a:tcPr/>
                </a:tc>
                <a:tc>
                  <a:txBody>
                    <a:bodyPr/>
                    <a:lstStyle/>
                    <a:p>
                      <a:r>
                        <a:rPr lang="en-US" sz="2800" dirty="0">
                          <a:latin typeface="Times New Roman" panose="02020603050405020304" pitchFamily="18" charset="0"/>
                          <a:cs typeface="Times New Roman" panose="02020603050405020304" pitchFamily="18" charset="0"/>
                        </a:rPr>
                        <a:t>after</a:t>
                      </a:r>
                      <a:endParaRPr lang="en-IN" sz="2800" dirty="0">
                        <a:latin typeface="Times New Roman" panose="02020603050405020304" pitchFamily="18" charset="0"/>
                        <a:cs typeface="Times New Roman" panose="02020603050405020304" pitchFamily="18" charset="0"/>
                      </a:endParaRPr>
                    </a:p>
                  </a:txBody>
                  <a:tcPr/>
                </a:tc>
                <a:tc>
                  <a:txBody>
                    <a:bodyPr/>
                    <a:lstStyle/>
                    <a:p>
                      <a:r>
                        <a:rPr lang="en-US" sz="2800" dirty="0">
                          <a:latin typeface="Times New Roman" panose="02020603050405020304" pitchFamily="18" charset="0"/>
                          <a:cs typeface="Times New Roman" panose="02020603050405020304" pitchFamily="18" charset="0"/>
                        </a:rPr>
                        <a:t>the</a:t>
                      </a:r>
                      <a:endParaRPr lang="en-IN" sz="2800" dirty="0">
                        <a:latin typeface="Times New Roman" panose="02020603050405020304" pitchFamily="18" charset="0"/>
                        <a:cs typeface="Times New Roman" panose="02020603050405020304" pitchFamily="18" charset="0"/>
                      </a:endParaRPr>
                    </a:p>
                  </a:txBody>
                  <a:tcPr/>
                </a:tc>
                <a:tc>
                  <a:txBody>
                    <a:bodyPr/>
                    <a:lstStyle/>
                    <a:p>
                      <a:r>
                        <a:rPr lang="en-US" sz="2800" dirty="0">
                          <a:latin typeface="Times New Roman" panose="02020603050405020304" pitchFamily="18" charset="0"/>
                          <a:cs typeface="Times New Roman" panose="02020603050405020304" pitchFamily="18" charset="0"/>
                        </a:rPr>
                        <a:t>toga</a:t>
                      </a:r>
                      <a:endParaRPr lang="en-IN" sz="2800" dirty="0">
                        <a:latin typeface="Times New Roman" panose="02020603050405020304" pitchFamily="18" charset="0"/>
                        <a:cs typeface="Times New Roman" panose="02020603050405020304" pitchFamily="18" charset="0"/>
                      </a:endParaRPr>
                    </a:p>
                  </a:txBody>
                  <a:tcPr/>
                </a:tc>
                <a:tc>
                  <a:txBody>
                    <a:bodyPr/>
                    <a:lstStyle/>
                    <a:p>
                      <a:r>
                        <a:rPr lang="en-US" sz="2800" dirty="0">
                          <a:latin typeface="Times New Roman" panose="02020603050405020304" pitchFamily="18" charset="0"/>
                          <a:cs typeface="Times New Roman" panose="02020603050405020304" pitchFamily="18" charset="0"/>
                        </a:rPr>
                        <a:t>party </a:t>
                      </a:r>
                      <a:endParaRPr lang="en-IN" sz="2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993322494"/>
                  </a:ext>
                </a:extLst>
              </a:tr>
              <a:tr h="69046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dirty="0">
                          <a:latin typeface="Times New Roman" panose="02020603050405020304" pitchFamily="18" charset="0"/>
                          <a:cs typeface="Times New Roman" panose="02020603050405020304" pitchFamily="18" charset="0"/>
                        </a:rPr>
                        <a:t>cipher:</a:t>
                      </a:r>
                      <a:endParaRPr lang="en-IN" sz="2800" dirty="0">
                        <a:latin typeface="Times New Roman" panose="02020603050405020304" pitchFamily="18" charset="0"/>
                        <a:cs typeface="Times New Roman" panose="02020603050405020304" pitchFamily="18" charset="0"/>
                      </a:endParaRPr>
                    </a:p>
                  </a:txBody>
                  <a:tcPr/>
                </a:tc>
                <a:tc>
                  <a:txBody>
                    <a:bodyPr/>
                    <a:lstStyle/>
                    <a:p>
                      <a:r>
                        <a:rPr lang="en-US" sz="2800" dirty="0">
                          <a:latin typeface="Times New Roman" panose="02020603050405020304" pitchFamily="18" charset="0"/>
                          <a:cs typeface="Times New Roman" panose="02020603050405020304" pitchFamily="18" charset="0"/>
                        </a:rPr>
                        <a:t>PHHW</a:t>
                      </a:r>
                      <a:endParaRPr lang="en-IN" sz="2800" dirty="0">
                        <a:latin typeface="Times New Roman" panose="02020603050405020304" pitchFamily="18" charset="0"/>
                        <a:cs typeface="Times New Roman" panose="02020603050405020304" pitchFamily="18" charset="0"/>
                      </a:endParaRPr>
                    </a:p>
                  </a:txBody>
                  <a:tcPr/>
                </a:tc>
                <a:tc>
                  <a:txBody>
                    <a:bodyPr/>
                    <a:lstStyle/>
                    <a:p>
                      <a:r>
                        <a:rPr lang="en-US" sz="2800" dirty="0">
                          <a:latin typeface="Times New Roman" panose="02020603050405020304" pitchFamily="18" charset="0"/>
                          <a:cs typeface="Times New Roman" panose="02020603050405020304" pitchFamily="18" charset="0"/>
                        </a:rPr>
                        <a:t>PH</a:t>
                      </a:r>
                      <a:endParaRPr lang="en-IN" sz="2800" dirty="0">
                        <a:latin typeface="Times New Roman" panose="02020603050405020304" pitchFamily="18" charset="0"/>
                        <a:cs typeface="Times New Roman" panose="02020603050405020304" pitchFamily="18" charset="0"/>
                      </a:endParaRPr>
                    </a:p>
                  </a:txBody>
                  <a:tcPr/>
                </a:tc>
                <a:tc>
                  <a:txBody>
                    <a:bodyPr/>
                    <a:lstStyle/>
                    <a:p>
                      <a:r>
                        <a:rPr lang="en-US" sz="2800" dirty="0">
                          <a:latin typeface="Times New Roman" panose="02020603050405020304" pitchFamily="18" charset="0"/>
                          <a:cs typeface="Times New Roman" panose="02020603050405020304" pitchFamily="18" charset="0"/>
                        </a:rPr>
                        <a:t>DIWHU</a:t>
                      </a:r>
                      <a:endParaRPr lang="en-IN" sz="2800" dirty="0">
                        <a:latin typeface="Times New Roman" panose="02020603050405020304" pitchFamily="18" charset="0"/>
                        <a:cs typeface="Times New Roman" panose="02020603050405020304" pitchFamily="18" charset="0"/>
                      </a:endParaRPr>
                    </a:p>
                  </a:txBody>
                  <a:tcPr/>
                </a:tc>
                <a:tc>
                  <a:txBody>
                    <a:bodyPr/>
                    <a:lstStyle/>
                    <a:p>
                      <a:r>
                        <a:rPr lang="en-US" sz="2800" dirty="0">
                          <a:latin typeface="Times New Roman" panose="02020603050405020304" pitchFamily="18" charset="0"/>
                          <a:cs typeface="Times New Roman" panose="02020603050405020304" pitchFamily="18" charset="0"/>
                        </a:rPr>
                        <a:t>WKH</a:t>
                      </a:r>
                      <a:endParaRPr lang="en-IN" sz="2800" dirty="0">
                        <a:latin typeface="Times New Roman" panose="02020603050405020304" pitchFamily="18" charset="0"/>
                        <a:cs typeface="Times New Roman" panose="02020603050405020304" pitchFamily="18" charset="0"/>
                      </a:endParaRPr>
                    </a:p>
                  </a:txBody>
                  <a:tcPr/>
                </a:tc>
                <a:tc>
                  <a:txBody>
                    <a:bodyPr/>
                    <a:lstStyle/>
                    <a:p>
                      <a:r>
                        <a:rPr lang="en-US" sz="2800" dirty="0">
                          <a:latin typeface="Times New Roman" panose="02020603050405020304" pitchFamily="18" charset="0"/>
                          <a:cs typeface="Times New Roman" panose="02020603050405020304" pitchFamily="18" charset="0"/>
                        </a:rPr>
                        <a:t>WRJD </a:t>
                      </a:r>
                      <a:endParaRPr lang="en-IN" sz="2800" dirty="0">
                        <a:latin typeface="Times New Roman" panose="02020603050405020304" pitchFamily="18" charset="0"/>
                        <a:cs typeface="Times New Roman" panose="02020603050405020304" pitchFamily="18" charset="0"/>
                      </a:endParaRPr>
                    </a:p>
                  </a:txBody>
                  <a:tcPr/>
                </a:tc>
                <a:tc>
                  <a:txBody>
                    <a:bodyPr/>
                    <a:lstStyle/>
                    <a:p>
                      <a:r>
                        <a:rPr lang="en-US" sz="2800" dirty="0">
                          <a:latin typeface="Times New Roman" panose="02020603050405020304" pitchFamily="18" charset="0"/>
                          <a:cs typeface="Times New Roman" panose="02020603050405020304" pitchFamily="18" charset="0"/>
                        </a:rPr>
                        <a:t>SDUWB</a:t>
                      </a:r>
                      <a:endParaRPr lang="en-IN" sz="2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729829478"/>
                  </a:ext>
                </a:extLst>
              </a:tr>
            </a:tbl>
          </a:graphicData>
        </a:graphic>
      </p:graphicFrame>
    </p:spTree>
    <p:extLst>
      <p:ext uri="{BB962C8B-B14F-4D97-AF65-F5344CB8AC3E}">
        <p14:creationId xmlns:p14="http://schemas.microsoft.com/office/powerpoint/2010/main" val="2535119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1000"/>
                                        <p:tgtEl>
                                          <p:spTgt spid="3"/>
                                        </p:tgtEl>
                                      </p:cBhvr>
                                    </p:animEffect>
                                    <p:anim calcmode="lin" valueType="num">
                                      <p:cBhvr>
                                        <p:cTn id="15" dur="1000" fill="hold"/>
                                        <p:tgtEl>
                                          <p:spTgt spid="3"/>
                                        </p:tgtEl>
                                        <p:attrNameLst>
                                          <p:attrName>ppt_x</p:attrName>
                                        </p:attrNameLst>
                                      </p:cBhvr>
                                      <p:tavLst>
                                        <p:tav tm="0">
                                          <p:val>
                                            <p:strVal val="#ppt_x"/>
                                          </p:val>
                                        </p:tav>
                                        <p:tav tm="100000">
                                          <p:val>
                                            <p:strVal val="#ppt_x"/>
                                          </p:val>
                                        </p:tav>
                                      </p:tavLst>
                                    </p:anim>
                                    <p:anim calcmode="lin" valueType="num">
                                      <p:cBhvr>
                                        <p:cTn id="16"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fade">
                                      <p:cBhvr>
                                        <p:cTn id="21" dur="1000"/>
                                        <p:tgtEl>
                                          <p:spTgt spid="2"/>
                                        </p:tgtEl>
                                      </p:cBhvr>
                                    </p:animEffect>
                                    <p:anim calcmode="lin" valueType="num">
                                      <p:cBhvr>
                                        <p:cTn id="22" dur="1000" fill="hold"/>
                                        <p:tgtEl>
                                          <p:spTgt spid="2"/>
                                        </p:tgtEl>
                                        <p:attrNameLst>
                                          <p:attrName>ppt_x</p:attrName>
                                        </p:attrNameLst>
                                      </p:cBhvr>
                                      <p:tavLst>
                                        <p:tav tm="0">
                                          <p:val>
                                            <p:strVal val="#ppt_x"/>
                                          </p:val>
                                        </p:tav>
                                        <p:tav tm="100000">
                                          <p:val>
                                            <p:strVal val="#ppt_x"/>
                                          </p:val>
                                        </p:tav>
                                      </p:tavLst>
                                    </p:anim>
                                    <p:anim calcmode="lin" valueType="num">
                                      <p:cBhvr>
                                        <p:cTn id="23"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fade">
                                      <p:cBhvr>
                                        <p:cTn id="28" dur="1000"/>
                                        <p:tgtEl>
                                          <p:spTgt spid="5"/>
                                        </p:tgtEl>
                                      </p:cBhvr>
                                    </p:animEffect>
                                    <p:anim calcmode="lin" valueType="num">
                                      <p:cBhvr>
                                        <p:cTn id="29" dur="1000" fill="hold"/>
                                        <p:tgtEl>
                                          <p:spTgt spid="5"/>
                                        </p:tgtEl>
                                        <p:attrNameLst>
                                          <p:attrName>ppt_x</p:attrName>
                                        </p:attrNameLst>
                                      </p:cBhvr>
                                      <p:tavLst>
                                        <p:tav tm="0">
                                          <p:val>
                                            <p:strVal val="#ppt_x"/>
                                          </p:val>
                                        </p:tav>
                                        <p:tav tm="100000">
                                          <p:val>
                                            <p:strVal val="#ppt_x"/>
                                          </p:val>
                                        </p:tav>
                                      </p:tavLst>
                                    </p:anim>
                                    <p:anim calcmode="lin" valueType="num">
                                      <p:cBhvr>
                                        <p:cTn id="30"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887482-F219-190B-5CFB-4FFBDA0B87D3}"/>
              </a:ext>
            </a:extLst>
          </p:cNvPr>
          <p:cNvSpPr>
            <a:spLocks noGrp="1"/>
          </p:cNvSpPr>
          <p:nvPr>
            <p:ph type="title"/>
          </p:nvPr>
        </p:nvSpPr>
        <p:spPr>
          <a:xfrm>
            <a:off x="657606" y="127570"/>
            <a:ext cx="10772775" cy="580602"/>
          </a:xfrm>
        </p:spPr>
        <p:txBody>
          <a:bodyPr>
            <a:normAutofit fontScale="90000"/>
          </a:bodyPr>
          <a:lstStyle/>
          <a:p>
            <a:r>
              <a:rPr lang="en-US" dirty="0"/>
              <a:t>Formula</a:t>
            </a:r>
            <a:endParaRPr lang="en-IN" dirty="0"/>
          </a:p>
        </p:txBody>
      </p:sp>
      <p:sp>
        <p:nvSpPr>
          <p:cNvPr id="3" name="Content Placeholder 2">
            <a:extLst>
              <a:ext uri="{FF2B5EF4-FFF2-40B4-BE49-F238E27FC236}">
                <a16:creationId xmlns:a16="http://schemas.microsoft.com/office/drawing/2014/main" id="{46ED88A5-10A1-374D-D703-A1C78D88C9E8}"/>
              </a:ext>
            </a:extLst>
          </p:cNvPr>
          <p:cNvSpPr>
            <a:spLocks noGrp="1"/>
          </p:cNvSpPr>
          <p:nvPr>
            <p:ph idx="1"/>
          </p:nvPr>
        </p:nvSpPr>
        <p:spPr>
          <a:xfrm>
            <a:off x="676656" y="708172"/>
            <a:ext cx="10753725" cy="5731957"/>
          </a:xfrm>
        </p:spPr>
        <p:txBody>
          <a:bodyPr>
            <a:normAutofit lnSpcReduction="10000"/>
          </a:bodyPr>
          <a:lstStyle/>
          <a:p>
            <a:r>
              <a:rPr lang="en-US" dirty="0">
                <a:latin typeface="Times New Roman" panose="02020603050405020304" pitchFamily="18" charset="0"/>
                <a:cs typeface="Times New Roman" panose="02020603050405020304" pitchFamily="18" charset="0"/>
              </a:rPr>
              <a:t>The encryption algorithm</a:t>
            </a:r>
          </a:p>
          <a:p>
            <a:pPr algn="ctr"/>
            <a:r>
              <a:rPr lang="en-US" dirty="0">
                <a:latin typeface="Times New Roman" panose="02020603050405020304" pitchFamily="18" charset="0"/>
                <a:cs typeface="Times New Roman" panose="02020603050405020304" pitchFamily="18" charset="0"/>
              </a:rPr>
              <a:t>C = E(3, p) = (p + 3) mod 26 </a:t>
            </a:r>
          </a:p>
          <a:p>
            <a:pPr algn="ctr"/>
            <a:r>
              <a:rPr lang="en-US" dirty="0">
                <a:latin typeface="Times New Roman" panose="02020603050405020304" pitchFamily="18" charset="0"/>
                <a:cs typeface="Times New Roman" panose="02020603050405020304" pitchFamily="18" charset="0"/>
              </a:rPr>
              <a:t>A shift may be of any amount, so that the general Caesar algorithm is </a:t>
            </a:r>
          </a:p>
          <a:p>
            <a:pPr algn="ctr"/>
            <a:r>
              <a:rPr lang="en-US" dirty="0">
                <a:latin typeface="Times New Roman" panose="02020603050405020304" pitchFamily="18" charset="0"/>
                <a:cs typeface="Times New Roman" panose="02020603050405020304" pitchFamily="18" charset="0"/>
              </a:rPr>
              <a:t>C = E(k, p) = (p + k) mod 26 </a:t>
            </a:r>
          </a:p>
          <a:p>
            <a:r>
              <a:rPr lang="en-US" dirty="0">
                <a:latin typeface="Times New Roman" panose="02020603050405020304" pitchFamily="18" charset="0"/>
                <a:cs typeface="Times New Roman" panose="02020603050405020304" pitchFamily="18" charset="0"/>
              </a:rPr>
              <a:t>where k takes on a value in the range 1 to 25. </a:t>
            </a:r>
          </a:p>
          <a:p>
            <a:r>
              <a:rPr lang="en-US" dirty="0">
                <a:latin typeface="Times New Roman" panose="02020603050405020304" pitchFamily="18" charset="0"/>
                <a:cs typeface="Times New Roman" panose="02020603050405020304" pitchFamily="18" charset="0"/>
              </a:rPr>
              <a:t>The decryption algorithm is simply  p = D(k, C) = (C- k) mod 26.</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Three important characteristics of this problem enabled us to use a brute force cryptanalysis: </a:t>
            </a:r>
          </a:p>
          <a:p>
            <a:r>
              <a:rPr lang="en-US" dirty="0">
                <a:latin typeface="Times New Roman" panose="02020603050405020304" pitchFamily="18" charset="0"/>
                <a:cs typeface="Times New Roman" panose="02020603050405020304" pitchFamily="18" charset="0"/>
              </a:rPr>
              <a:t>1. The encryption and decryption algorithms are known. </a:t>
            </a:r>
          </a:p>
          <a:p>
            <a:r>
              <a:rPr lang="en-US" dirty="0">
                <a:latin typeface="Times New Roman" panose="02020603050405020304" pitchFamily="18" charset="0"/>
                <a:cs typeface="Times New Roman" panose="02020603050405020304" pitchFamily="18" charset="0"/>
              </a:rPr>
              <a:t>2. There are only 25 keys to try. </a:t>
            </a:r>
          </a:p>
          <a:p>
            <a:r>
              <a:rPr lang="en-US" dirty="0">
                <a:latin typeface="Times New Roman" panose="02020603050405020304" pitchFamily="18" charset="0"/>
                <a:cs typeface="Times New Roman" panose="02020603050405020304" pitchFamily="18" charset="0"/>
              </a:rPr>
              <a:t>3. The language of the plaintext is known and easily recognizable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95010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FB5130-F761-3775-0779-9EF8E209D232}"/>
              </a:ext>
            </a:extLst>
          </p:cNvPr>
          <p:cNvSpPr>
            <a:spLocks noGrp="1"/>
          </p:cNvSpPr>
          <p:nvPr>
            <p:ph type="title"/>
          </p:nvPr>
        </p:nvSpPr>
        <p:spPr>
          <a:xfrm>
            <a:off x="709612" y="184900"/>
            <a:ext cx="10772775" cy="552519"/>
          </a:xfrm>
        </p:spPr>
        <p:txBody>
          <a:bodyPr>
            <a:normAutofit fontScale="90000"/>
          </a:bodyPr>
          <a:lstStyle/>
          <a:p>
            <a:r>
              <a:rPr lang="en-US" dirty="0"/>
              <a:t>Monoalphabetic Cipher</a:t>
            </a:r>
            <a:endParaRPr lang="en-IN" dirty="0"/>
          </a:p>
        </p:txBody>
      </p:sp>
      <p:sp>
        <p:nvSpPr>
          <p:cNvPr id="3" name="Content Placeholder 2">
            <a:extLst>
              <a:ext uri="{FF2B5EF4-FFF2-40B4-BE49-F238E27FC236}">
                <a16:creationId xmlns:a16="http://schemas.microsoft.com/office/drawing/2014/main" id="{B6F62FDF-D2A9-E78C-1ACB-CE2E25142BE9}"/>
              </a:ext>
            </a:extLst>
          </p:cNvPr>
          <p:cNvSpPr>
            <a:spLocks noGrp="1"/>
          </p:cNvSpPr>
          <p:nvPr>
            <p:ph idx="1"/>
          </p:nvPr>
        </p:nvSpPr>
        <p:spPr>
          <a:xfrm>
            <a:off x="676656" y="845574"/>
            <a:ext cx="10753725" cy="5692878"/>
          </a:xfrm>
        </p:spPr>
        <p:txBody>
          <a:bodyPr>
            <a:normAutofit fontScale="92500" lnSpcReduction="10000"/>
          </a:bodyPr>
          <a:lstStyle/>
          <a:p>
            <a:pPr algn="just">
              <a:lnSpc>
                <a:spcPct val="150000"/>
              </a:lnSpc>
            </a:pPr>
            <a:r>
              <a:rPr lang="en-US" dirty="0">
                <a:latin typeface="Times New Roman" panose="02020603050405020304" pitchFamily="18" charset="0"/>
                <a:cs typeface="Times New Roman" panose="02020603050405020304" pitchFamily="18" charset="0"/>
              </a:rPr>
              <a:t>With only 25 possible keys, the Caesar cipher is far from secure. </a:t>
            </a:r>
          </a:p>
          <a:p>
            <a:pPr algn="just">
              <a:lnSpc>
                <a:spcPct val="150000"/>
              </a:lnSpc>
            </a:pPr>
            <a:r>
              <a:rPr lang="en-US" dirty="0">
                <a:latin typeface="Times New Roman" panose="02020603050405020304" pitchFamily="18" charset="0"/>
                <a:cs typeface="Times New Roman" panose="02020603050405020304" pitchFamily="18" charset="0"/>
              </a:rPr>
              <a:t>A dramatic increase in the key space can be achieved by allowing an arbitrary substitution. Before proceeding, we define the term permutation. </a:t>
            </a:r>
          </a:p>
          <a:p>
            <a:pPr algn="just">
              <a:lnSpc>
                <a:spcPct val="150000"/>
              </a:lnSpc>
            </a:pPr>
            <a:r>
              <a:rPr lang="en-US" dirty="0">
                <a:latin typeface="Times New Roman" panose="02020603050405020304" pitchFamily="18" charset="0"/>
                <a:cs typeface="Times New Roman" panose="02020603050405020304" pitchFamily="18" charset="0"/>
              </a:rPr>
              <a:t>A permutation of a finite set of elements S is an ordered sequence of all the elements of S, with each element appearing exactly once. </a:t>
            </a:r>
          </a:p>
          <a:p>
            <a:pPr algn="just">
              <a:lnSpc>
                <a:spcPct val="150000"/>
              </a:lnSpc>
            </a:pPr>
            <a:r>
              <a:rPr lang="en-US" dirty="0">
                <a:latin typeface="Times New Roman" panose="02020603050405020304" pitchFamily="18" charset="0"/>
                <a:cs typeface="Times New Roman" panose="02020603050405020304" pitchFamily="18" charset="0"/>
              </a:rPr>
              <a:t>For example, if S = {a, b, c}, </a:t>
            </a:r>
          </a:p>
          <a:p>
            <a:pPr algn="just">
              <a:lnSpc>
                <a:spcPct val="150000"/>
              </a:lnSpc>
            </a:pPr>
            <a:r>
              <a:rPr lang="en-US" dirty="0">
                <a:latin typeface="Times New Roman" panose="02020603050405020304" pitchFamily="18" charset="0"/>
                <a:cs typeface="Times New Roman" panose="02020603050405020304" pitchFamily="18" charset="0"/>
              </a:rPr>
              <a:t>there are six permutations of S: </a:t>
            </a:r>
            <a:r>
              <a:rPr lang="en-US" dirty="0" err="1">
                <a:latin typeface="Times New Roman" panose="02020603050405020304" pitchFamily="18" charset="0"/>
                <a:cs typeface="Times New Roman" panose="02020603050405020304" pitchFamily="18" charset="0"/>
              </a:rPr>
              <a:t>abc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acb</a:t>
            </a:r>
            <a:r>
              <a:rPr lang="en-US" dirty="0">
                <a:latin typeface="Times New Roman" panose="02020603050405020304" pitchFamily="18" charset="0"/>
                <a:cs typeface="Times New Roman" panose="02020603050405020304" pitchFamily="18" charset="0"/>
              </a:rPr>
              <a:t>, bac, </a:t>
            </a:r>
            <a:r>
              <a:rPr lang="en-US" dirty="0" err="1">
                <a:latin typeface="Times New Roman" panose="02020603050405020304" pitchFamily="18" charset="0"/>
                <a:cs typeface="Times New Roman" panose="02020603050405020304" pitchFamily="18" charset="0"/>
              </a:rPr>
              <a:t>bca</a:t>
            </a:r>
            <a:r>
              <a:rPr lang="en-US" dirty="0">
                <a:latin typeface="Times New Roman" panose="02020603050405020304" pitchFamily="18" charset="0"/>
                <a:cs typeface="Times New Roman" panose="02020603050405020304" pitchFamily="18" charset="0"/>
              </a:rPr>
              <a:t>, cab, cba. </a:t>
            </a:r>
          </a:p>
          <a:p>
            <a:pPr algn="just">
              <a:lnSpc>
                <a:spcPct val="150000"/>
              </a:lnSpc>
            </a:pPr>
            <a:r>
              <a:rPr lang="en-US" dirty="0">
                <a:latin typeface="Times New Roman" panose="02020603050405020304" pitchFamily="18" charset="0"/>
                <a:cs typeface="Times New Roman" panose="02020603050405020304" pitchFamily="18" charset="0"/>
              </a:rPr>
              <a:t>In general, there are n! permutations of a set of n elements, because the first element can be chosen in one of n ways, the second in n- 1 ways, the third in n- 2 ways, and so on. Recall the assignment for the Caesar cipher</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074631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00C6CE-4029-0985-9BF8-D53C0036DE37}"/>
              </a:ext>
            </a:extLst>
          </p:cNvPr>
          <p:cNvSpPr>
            <a:spLocks noGrp="1"/>
          </p:cNvSpPr>
          <p:nvPr>
            <p:ph type="title"/>
          </p:nvPr>
        </p:nvSpPr>
        <p:spPr>
          <a:xfrm>
            <a:off x="676274" y="204565"/>
            <a:ext cx="10772775" cy="572183"/>
          </a:xfrm>
        </p:spPr>
        <p:txBody>
          <a:bodyPr>
            <a:normAutofit fontScale="90000"/>
          </a:bodyPr>
          <a:lstStyle/>
          <a:p>
            <a:r>
              <a:rPr lang="en-US" dirty="0"/>
              <a:t>Contd..</a:t>
            </a:r>
            <a:endParaRPr lang="en-IN" dirty="0"/>
          </a:p>
        </p:txBody>
      </p:sp>
      <p:sp>
        <p:nvSpPr>
          <p:cNvPr id="3" name="Content Placeholder 2">
            <a:extLst>
              <a:ext uri="{FF2B5EF4-FFF2-40B4-BE49-F238E27FC236}">
                <a16:creationId xmlns:a16="http://schemas.microsoft.com/office/drawing/2014/main" id="{2F39694B-9259-57D4-5B98-073E4315E1FE}"/>
              </a:ext>
            </a:extLst>
          </p:cNvPr>
          <p:cNvSpPr>
            <a:spLocks noGrp="1"/>
          </p:cNvSpPr>
          <p:nvPr>
            <p:ph idx="1"/>
          </p:nvPr>
        </p:nvSpPr>
        <p:spPr>
          <a:xfrm>
            <a:off x="676656" y="924232"/>
            <a:ext cx="10753725" cy="5506065"/>
          </a:xfrm>
        </p:spPr>
        <p:txBody>
          <a:bodyPr>
            <a:normAutofit/>
          </a:bodyPr>
          <a:lstStyle/>
          <a:p>
            <a:pPr algn="just">
              <a:lnSpc>
                <a:spcPct val="150000"/>
              </a:lnSpc>
            </a:pPr>
            <a:r>
              <a:rPr lang="en-US" sz="2800" dirty="0">
                <a:latin typeface="Times New Roman" panose="02020603050405020304" pitchFamily="18" charset="0"/>
                <a:cs typeface="Times New Roman" panose="02020603050405020304" pitchFamily="18" charset="0"/>
              </a:rPr>
              <a:t>If, instead, the “cipher” line can be any permutation of the 26 alphabetic characters, then there are 26! or greater than 4 * 1026 possible keys. </a:t>
            </a:r>
          </a:p>
          <a:p>
            <a:pPr algn="just">
              <a:lnSpc>
                <a:spcPct val="150000"/>
              </a:lnSpc>
            </a:pPr>
            <a:r>
              <a:rPr lang="en-US" sz="2800" dirty="0">
                <a:latin typeface="Times New Roman" panose="02020603050405020304" pitchFamily="18" charset="0"/>
                <a:cs typeface="Times New Roman" panose="02020603050405020304" pitchFamily="18" charset="0"/>
              </a:rPr>
              <a:t>This is 10 orders of magnitude greater than the key space for DES and would seem to eliminate brute-force techniques for cryptanalysis. </a:t>
            </a:r>
          </a:p>
          <a:p>
            <a:pPr algn="just">
              <a:lnSpc>
                <a:spcPct val="150000"/>
              </a:lnSpc>
            </a:pPr>
            <a:r>
              <a:rPr lang="en-US" sz="2800" dirty="0">
                <a:latin typeface="Times New Roman" panose="02020603050405020304" pitchFamily="18" charset="0"/>
                <a:cs typeface="Times New Roman" panose="02020603050405020304" pitchFamily="18" charset="0"/>
              </a:rPr>
              <a:t>Such an approach is referred to as a monoalphabetic substitution cipher, because a single cipher alphabet (mapping from plain alphabet to cipher alphabet) is used per message.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927931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215A1C-AFCD-9176-4083-74971D92352C}"/>
              </a:ext>
            </a:extLst>
          </p:cNvPr>
          <p:cNvSpPr>
            <a:spLocks noGrp="1"/>
          </p:cNvSpPr>
          <p:nvPr>
            <p:ph type="title"/>
          </p:nvPr>
        </p:nvSpPr>
        <p:spPr>
          <a:xfrm>
            <a:off x="657224" y="167149"/>
            <a:ext cx="10772775" cy="629264"/>
          </a:xfrm>
        </p:spPr>
        <p:txBody>
          <a:bodyPr>
            <a:normAutofit fontScale="90000"/>
          </a:bodyPr>
          <a:lstStyle/>
          <a:p>
            <a:r>
              <a:rPr lang="en-US" dirty="0"/>
              <a:t>Play Fair Cipher </a:t>
            </a:r>
            <a:endParaRPr lang="en-IN" dirty="0"/>
          </a:p>
        </p:txBody>
      </p:sp>
      <p:sp>
        <p:nvSpPr>
          <p:cNvPr id="3" name="Content Placeholder 2">
            <a:extLst>
              <a:ext uri="{FF2B5EF4-FFF2-40B4-BE49-F238E27FC236}">
                <a16:creationId xmlns:a16="http://schemas.microsoft.com/office/drawing/2014/main" id="{C335B97D-1B49-B363-A03F-9F84299FBAFB}"/>
              </a:ext>
            </a:extLst>
          </p:cNvPr>
          <p:cNvSpPr>
            <a:spLocks noGrp="1"/>
          </p:cNvSpPr>
          <p:nvPr>
            <p:ph idx="1"/>
          </p:nvPr>
        </p:nvSpPr>
        <p:spPr>
          <a:xfrm>
            <a:off x="676656" y="796413"/>
            <a:ext cx="10753725" cy="5614219"/>
          </a:xfrm>
        </p:spPr>
        <p:txBody>
          <a:bodyPr/>
          <a:lstStyle/>
          <a:p>
            <a:pPr algn="just">
              <a:lnSpc>
                <a:spcPct val="150000"/>
              </a:lnSpc>
            </a:pPr>
            <a:r>
              <a:rPr lang="en-US" dirty="0">
                <a:latin typeface="Times New Roman" panose="02020603050405020304" pitchFamily="18" charset="0"/>
                <a:cs typeface="Times New Roman" panose="02020603050405020304" pitchFamily="18" charset="0"/>
              </a:rPr>
              <a:t>The best-known multiple-letter encryption cipher is the Playfair, which treats </a:t>
            </a:r>
            <a:r>
              <a:rPr lang="en-US" dirty="0" err="1">
                <a:latin typeface="Times New Roman" panose="02020603050405020304" pitchFamily="18" charset="0"/>
                <a:cs typeface="Times New Roman" panose="02020603050405020304" pitchFamily="18" charset="0"/>
              </a:rPr>
              <a:t>digrams</a:t>
            </a:r>
            <a:r>
              <a:rPr lang="en-US" dirty="0">
                <a:latin typeface="Times New Roman" panose="02020603050405020304" pitchFamily="18" charset="0"/>
                <a:cs typeface="Times New Roman" panose="02020603050405020304" pitchFamily="18" charset="0"/>
              </a:rPr>
              <a:t> in the plaintext as single units and translates these units into ciphertext </a:t>
            </a:r>
            <a:r>
              <a:rPr lang="en-US" dirty="0" err="1">
                <a:latin typeface="Times New Roman" panose="02020603050405020304" pitchFamily="18" charset="0"/>
                <a:cs typeface="Times New Roman" panose="02020603050405020304" pitchFamily="18" charset="0"/>
              </a:rPr>
              <a:t>digrams</a:t>
            </a:r>
            <a:endParaRPr lang="en-US"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The Playfair algorithm is based on the use of a 5 * 5 matrix of letters constructed using a keyword. In this case, the keyword is monarchy. The matrix is constructed by filling in the letters of the keyword (minus duplicates) from left to right and from top to bottom, and then filling in the remainder of the matrix with the remaining letters in alphabetic order. The letters I and J count as one letter. Plaintext is encrypted two letters at a time, according to the following rules:</a:t>
            </a: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975DE3B4-AD60-91B3-4764-3C0351F1E90C}"/>
              </a:ext>
            </a:extLst>
          </p:cNvPr>
          <p:cNvPicPr>
            <a:picLocks noChangeAspect="1"/>
          </p:cNvPicPr>
          <p:nvPr/>
        </p:nvPicPr>
        <p:blipFill>
          <a:blip r:embed="rId2"/>
          <a:stretch>
            <a:fillRect/>
          </a:stretch>
        </p:blipFill>
        <p:spPr>
          <a:xfrm>
            <a:off x="6913848" y="4812890"/>
            <a:ext cx="4601496" cy="1696065"/>
          </a:xfrm>
          <a:prstGeom prst="rect">
            <a:avLst/>
          </a:prstGeom>
        </p:spPr>
      </p:pic>
    </p:spTree>
    <p:extLst>
      <p:ext uri="{BB962C8B-B14F-4D97-AF65-F5344CB8AC3E}">
        <p14:creationId xmlns:p14="http://schemas.microsoft.com/office/powerpoint/2010/main" val="3325453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1CD970-3E9F-8C33-63B7-B5A60137C506}"/>
              </a:ext>
            </a:extLst>
          </p:cNvPr>
          <p:cNvSpPr>
            <a:spLocks noGrp="1"/>
          </p:cNvSpPr>
          <p:nvPr>
            <p:ph type="title"/>
          </p:nvPr>
        </p:nvSpPr>
        <p:spPr>
          <a:xfrm>
            <a:off x="676274" y="184902"/>
            <a:ext cx="10772775" cy="523022"/>
          </a:xfrm>
        </p:spPr>
        <p:txBody>
          <a:bodyPr>
            <a:normAutofit fontScale="90000"/>
          </a:bodyPr>
          <a:lstStyle/>
          <a:p>
            <a:r>
              <a:rPr lang="en-US" dirty="0"/>
              <a:t>Steps</a:t>
            </a:r>
            <a:endParaRPr lang="en-IN" dirty="0"/>
          </a:p>
        </p:txBody>
      </p:sp>
      <p:sp>
        <p:nvSpPr>
          <p:cNvPr id="3" name="Content Placeholder 2">
            <a:extLst>
              <a:ext uri="{FF2B5EF4-FFF2-40B4-BE49-F238E27FC236}">
                <a16:creationId xmlns:a16="http://schemas.microsoft.com/office/drawing/2014/main" id="{1022C059-BF42-7F38-516D-9169B969B816}"/>
              </a:ext>
            </a:extLst>
          </p:cNvPr>
          <p:cNvSpPr>
            <a:spLocks noGrp="1"/>
          </p:cNvSpPr>
          <p:nvPr>
            <p:ph idx="1"/>
          </p:nvPr>
        </p:nvSpPr>
        <p:spPr>
          <a:xfrm>
            <a:off x="560440" y="707924"/>
            <a:ext cx="10869942" cy="5840360"/>
          </a:xfrm>
        </p:spPr>
        <p:txBody>
          <a:bodyPr>
            <a:normAutofit fontScale="92500" lnSpcReduction="10000"/>
          </a:bodyPr>
          <a:lstStyle/>
          <a:p>
            <a:pPr algn="just">
              <a:lnSpc>
                <a:spcPct val="150000"/>
              </a:lnSpc>
            </a:pPr>
            <a:r>
              <a:rPr lang="en-US" dirty="0">
                <a:latin typeface="Times New Roman" panose="02020603050405020304" pitchFamily="18" charset="0"/>
                <a:cs typeface="Times New Roman" panose="02020603050405020304" pitchFamily="18" charset="0"/>
              </a:rPr>
              <a:t>1. Repeating plaintext letters that are in the same pair are separated with a filler letter, such as x, so that balloon would be treated as </a:t>
            </a:r>
            <a:r>
              <a:rPr lang="en-US" dirty="0" err="1">
                <a:latin typeface="Times New Roman" panose="02020603050405020304" pitchFamily="18" charset="0"/>
                <a:cs typeface="Times New Roman" panose="02020603050405020304" pitchFamily="18" charset="0"/>
              </a:rPr>
              <a:t>ba</a:t>
            </a:r>
            <a:r>
              <a:rPr lang="en-US" dirty="0">
                <a:latin typeface="Times New Roman" panose="02020603050405020304" pitchFamily="18" charset="0"/>
                <a:cs typeface="Times New Roman" panose="02020603050405020304" pitchFamily="18" charset="0"/>
              </a:rPr>
              <a:t> lx lo on. </a:t>
            </a:r>
          </a:p>
          <a:p>
            <a:pPr algn="just">
              <a:lnSpc>
                <a:spcPct val="150000"/>
              </a:lnSpc>
            </a:pPr>
            <a:r>
              <a:rPr lang="en-US" dirty="0">
                <a:latin typeface="Times New Roman" panose="02020603050405020304" pitchFamily="18" charset="0"/>
                <a:cs typeface="Times New Roman" panose="02020603050405020304" pitchFamily="18" charset="0"/>
              </a:rPr>
              <a:t>2. Two plaintext letters that fall in the same row of the matrix are each replaced by the letter to the right, with the first element of the row circularly following the last. For example, </a:t>
            </a:r>
            <a:r>
              <a:rPr lang="en-US" dirty="0" err="1">
                <a:latin typeface="Times New Roman" panose="02020603050405020304" pitchFamily="18" charset="0"/>
                <a:cs typeface="Times New Roman" panose="02020603050405020304" pitchFamily="18" charset="0"/>
              </a:rPr>
              <a:t>ar</a:t>
            </a:r>
            <a:r>
              <a:rPr lang="en-US" dirty="0">
                <a:latin typeface="Times New Roman" panose="02020603050405020304" pitchFamily="18" charset="0"/>
                <a:cs typeface="Times New Roman" panose="02020603050405020304" pitchFamily="18" charset="0"/>
              </a:rPr>
              <a:t> is encrypted as RM. </a:t>
            </a:r>
          </a:p>
          <a:p>
            <a:pPr algn="just">
              <a:lnSpc>
                <a:spcPct val="150000"/>
              </a:lnSpc>
            </a:pPr>
            <a:r>
              <a:rPr lang="en-US" dirty="0">
                <a:latin typeface="Times New Roman" panose="02020603050405020304" pitchFamily="18" charset="0"/>
                <a:cs typeface="Times New Roman" panose="02020603050405020304" pitchFamily="18" charset="0"/>
              </a:rPr>
              <a:t>3. Two plaintext letters that fall in the same column are each replaced by the letter beneath, with the top element of the column circularly following the last. For example, mu is encrypted as CM. </a:t>
            </a:r>
          </a:p>
          <a:p>
            <a:pPr algn="just">
              <a:lnSpc>
                <a:spcPct val="150000"/>
              </a:lnSpc>
            </a:pPr>
            <a:r>
              <a:rPr lang="en-US" dirty="0">
                <a:latin typeface="Times New Roman" panose="02020603050405020304" pitchFamily="18" charset="0"/>
                <a:cs typeface="Times New Roman" panose="02020603050405020304" pitchFamily="18" charset="0"/>
              </a:rPr>
              <a:t>4. Otherwise, each plaintext letter in a pair is replaced by the letter that lies in its own row and the column occupied by the other plaintext letter. Thus, </a:t>
            </a:r>
            <a:r>
              <a:rPr lang="en-US" dirty="0" err="1">
                <a:latin typeface="Times New Roman" panose="02020603050405020304" pitchFamily="18" charset="0"/>
                <a:cs typeface="Times New Roman" panose="02020603050405020304" pitchFamily="18" charset="0"/>
              </a:rPr>
              <a:t>hs</a:t>
            </a:r>
            <a:r>
              <a:rPr lang="en-US" dirty="0">
                <a:latin typeface="Times New Roman" panose="02020603050405020304" pitchFamily="18" charset="0"/>
                <a:cs typeface="Times New Roman" panose="02020603050405020304" pitchFamily="18" charset="0"/>
              </a:rPr>
              <a:t> becomes BP and </a:t>
            </a:r>
            <a:r>
              <a:rPr lang="en-US" dirty="0" err="1">
                <a:latin typeface="Times New Roman" panose="02020603050405020304" pitchFamily="18" charset="0"/>
                <a:cs typeface="Times New Roman" panose="02020603050405020304" pitchFamily="18" charset="0"/>
              </a:rPr>
              <a:t>ea</a:t>
            </a:r>
            <a:r>
              <a:rPr lang="en-US" dirty="0">
                <a:latin typeface="Times New Roman" panose="02020603050405020304" pitchFamily="18" charset="0"/>
                <a:cs typeface="Times New Roman" panose="02020603050405020304" pitchFamily="18" charset="0"/>
              </a:rPr>
              <a:t> becomes IM (or JM, as the </a:t>
            </a:r>
            <a:r>
              <a:rPr lang="en-US" dirty="0" err="1">
                <a:latin typeface="Times New Roman" panose="02020603050405020304" pitchFamily="18" charset="0"/>
                <a:cs typeface="Times New Roman" panose="02020603050405020304" pitchFamily="18" charset="0"/>
              </a:rPr>
              <a:t>encipherer</a:t>
            </a:r>
            <a:r>
              <a:rPr lang="en-US" dirty="0">
                <a:latin typeface="Times New Roman" panose="02020603050405020304" pitchFamily="18" charset="0"/>
                <a:cs typeface="Times New Roman" panose="02020603050405020304" pitchFamily="18" charset="0"/>
              </a:rPr>
              <a:t> wishes).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989735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5B4A3D5-9503-BA3B-1A4D-57471F1C3346}"/>
              </a:ext>
            </a:extLst>
          </p:cNvPr>
          <p:cNvPicPr>
            <a:picLocks noGrp="1" noChangeAspect="1"/>
          </p:cNvPicPr>
          <p:nvPr>
            <p:ph idx="1"/>
          </p:nvPr>
        </p:nvPicPr>
        <p:blipFill>
          <a:blip r:embed="rId2"/>
          <a:stretch>
            <a:fillRect/>
          </a:stretch>
        </p:blipFill>
        <p:spPr>
          <a:xfrm>
            <a:off x="403123" y="436741"/>
            <a:ext cx="10884309" cy="5619929"/>
          </a:xfrm>
        </p:spPr>
      </p:pic>
    </p:spTree>
    <p:extLst>
      <p:ext uri="{BB962C8B-B14F-4D97-AF65-F5344CB8AC3E}">
        <p14:creationId xmlns:p14="http://schemas.microsoft.com/office/powerpoint/2010/main" val="36423940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7BF449-1D40-F736-7A50-3A40DE0FA91A}"/>
              </a:ext>
            </a:extLst>
          </p:cNvPr>
          <p:cNvSpPr>
            <a:spLocks noGrp="1"/>
          </p:cNvSpPr>
          <p:nvPr>
            <p:ph type="title"/>
          </p:nvPr>
        </p:nvSpPr>
        <p:spPr>
          <a:xfrm>
            <a:off x="638174" y="214397"/>
            <a:ext cx="10772775" cy="580602"/>
          </a:xfrm>
        </p:spPr>
        <p:txBody>
          <a:bodyPr>
            <a:normAutofit fontScale="90000"/>
          </a:bodyPr>
          <a:lstStyle/>
          <a:p>
            <a:r>
              <a:rPr lang="en-US" dirty="0"/>
              <a:t>Hill Cipher</a:t>
            </a:r>
            <a:endParaRPr lang="en-IN" dirty="0"/>
          </a:p>
        </p:txBody>
      </p:sp>
      <p:sp>
        <p:nvSpPr>
          <p:cNvPr id="3" name="Content Placeholder 2">
            <a:extLst>
              <a:ext uri="{FF2B5EF4-FFF2-40B4-BE49-F238E27FC236}">
                <a16:creationId xmlns:a16="http://schemas.microsoft.com/office/drawing/2014/main" id="{6C21EA3D-43B1-7A71-471C-F9A41CDAC030}"/>
              </a:ext>
            </a:extLst>
          </p:cNvPr>
          <p:cNvSpPr>
            <a:spLocks noGrp="1"/>
          </p:cNvSpPr>
          <p:nvPr>
            <p:ph idx="1"/>
          </p:nvPr>
        </p:nvSpPr>
        <p:spPr>
          <a:xfrm>
            <a:off x="676656" y="1002890"/>
            <a:ext cx="10753725" cy="4774975"/>
          </a:xfrm>
        </p:spPr>
        <p:txBody>
          <a:bodyPr/>
          <a:lstStyle/>
          <a:p>
            <a:r>
              <a:rPr lang="en-US" dirty="0"/>
              <a:t>Another interesting multi letter cipher is the Hill cipher, developed by the mathematician Lester Hill in 1929.</a:t>
            </a:r>
          </a:p>
          <a:p>
            <a:endParaRPr lang="en-IN" dirty="0"/>
          </a:p>
        </p:txBody>
      </p:sp>
    </p:spTree>
    <p:extLst>
      <p:ext uri="{BB962C8B-B14F-4D97-AF65-F5344CB8AC3E}">
        <p14:creationId xmlns:p14="http://schemas.microsoft.com/office/powerpoint/2010/main" val="42356999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E28616-DD57-2E4C-0DCB-11D69784E2FF}"/>
              </a:ext>
            </a:extLst>
          </p:cNvPr>
          <p:cNvSpPr>
            <a:spLocks noGrp="1"/>
          </p:cNvSpPr>
          <p:nvPr>
            <p:ph type="title"/>
          </p:nvPr>
        </p:nvSpPr>
        <p:spPr>
          <a:xfrm>
            <a:off x="657224" y="265471"/>
            <a:ext cx="10772775" cy="963561"/>
          </a:xfrm>
        </p:spPr>
        <p:txBody>
          <a:bodyPr>
            <a:normAutofit/>
          </a:bodyPr>
          <a:lstStyle/>
          <a:p>
            <a:r>
              <a:rPr lang="en-US" dirty="0"/>
              <a:t>polyalphabetic substitution cipher</a:t>
            </a:r>
            <a:endParaRPr lang="en-IN" dirty="0"/>
          </a:p>
        </p:txBody>
      </p:sp>
      <p:sp>
        <p:nvSpPr>
          <p:cNvPr id="3" name="Content Placeholder 2">
            <a:extLst>
              <a:ext uri="{FF2B5EF4-FFF2-40B4-BE49-F238E27FC236}">
                <a16:creationId xmlns:a16="http://schemas.microsoft.com/office/drawing/2014/main" id="{B8EABDEE-EFCC-1224-5DC1-D0C18789CA1D}"/>
              </a:ext>
            </a:extLst>
          </p:cNvPr>
          <p:cNvSpPr>
            <a:spLocks noGrp="1"/>
          </p:cNvSpPr>
          <p:nvPr>
            <p:ph idx="1"/>
          </p:nvPr>
        </p:nvSpPr>
        <p:spPr>
          <a:xfrm>
            <a:off x="676656" y="1120878"/>
            <a:ext cx="10753725" cy="5348748"/>
          </a:xfrm>
        </p:spPr>
        <p:txBody>
          <a:bodyPr>
            <a:normAutofit lnSpcReduction="10000"/>
          </a:bodyPr>
          <a:lstStyle/>
          <a:p>
            <a:pPr algn="just">
              <a:lnSpc>
                <a:spcPct val="150000"/>
              </a:lnSpc>
            </a:pPr>
            <a:r>
              <a:rPr lang="en-US" sz="2800" dirty="0">
                <a:latin typeface="Times New Roman" panose="02020603050405020304" pitchFamily="18" charset="0"/>
                <a:cs typeface="Times New Roman" panose="02020603050405020304" pitchFamily="18" charset="0"/>
              </a:rPr>
              <a:t>Another way to improve on the simple monoalphabetic technique is to use different monoalphabetic substitutions as one proceeds through the plaintext message. The general name for this approach is polyalphabetic substitution cipher. </a:t>
            </a:r>
          </a:p>
          <a:p>
            <a:pPr algn="just">
              <a:lnSpc>
                <a:spcPct val="150000"/>
              </a:lnSpc>
            </a:pPr>
            <a:r>
              <a:rPr lang="en-US" sz="2800" dirty="0">
                <a:latin typeface="Times New Roman" panose="02020603050405020304" pitchFamily="18" charset="0"/>
                <a:cs typeface="Times New Roman" panose="02020603050405020304" pitchFamily="18" charset="0"/>
              </a:rPr>
              <a:t>All these techniques have the following features in common: </a:t>
            </a:r>
          </a:p>
          <a:p>
            <a:pPr algn="just">
              <a:lnSpc>
                <a:spcPct val="150000"/>
              </a:lnSpc>
            </a:pPr>
            <a:r>
              <a:rPr lang="en-US" sz="2800" dirty="0">
                <a:latin typeface="Times New Roman" panose="02020603050405020304" pitchFamily="18" charset="0"/>
                <a:cs typeface="Times New Roman" panose="02020603050405020304" pitchFamily="18" charset="0"/>
              </a:rPr>
              <a:t>1. A set of related monoalphabetic substitution rules is used. </a:t>
            </a:r>
          </a:p>
          <a:p>
            <a:pPr algn="just">
              <a:lnSpc>
                <a:spcPct val="150000"/>
              </a:lnSpc>
            </a:pPr>
            <a:r>
              <a:rPr lang="en-US" sz="2800" dirty="0">
                <a:latin typeface="Times New Roman" panose="02020603050405020304" pitchFamily="18" charset="0"/>
                <a:cs typeface="Times New Roman" panose="02020603050405020304" pitchFamily="18" charset="0"/>
              </a:rPr>
              <a:t>2. A key determines which particular rule is chosen for a given transformation</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809945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0D3C01-1485-8849-86E5-BB86B2C49005}"/>
              </a:ext>
            </a:extLst>
          </p:cNvPr>
          <p:cNvSpPr>
            <a:spLocks noGrp="1"/>
          </p:cNvSpPr>
          <p:nvPr>
            <p:ph type="title"/>
          </p:nvPr>
        </p:nvSpPr>
        <p:spPr>
          <a:xfrm>
            <a:off x="657224" y="216311"/>
            <a:ext cx="10772775" cy="766916"/>
          </a:xfrm>
        </p:spPr>
        <p:txBody>
          <a:bodyPr>
            <a:normAutofit fontScale="90000"/>
          </a:bodyPr>
          <a:lstStyle/>
          <a:p>
            <a:r>
              <a:rPr lang="en-US" dirty="0" err="1"/>
              <a:t>Vernam</a:t>
            </a:r>
            <a:r>
              <a:rPr lang="en-US" dirty="0"/>
              <a:t> Cipher</a:t>
            </a:r>
            <a:endParaRPr lang="en-IN" dirty="0"/>
          </a:p>
        </p:txBody>
      </p:sp>
      <p:pic>
        <p:nvPicPr>
          <p:cNvPr id="5" name="Content Placeholder 4">
            <a:extLst>
              <a:ext uri="{FF2B5EF4-FFF2-40B4-BE49-F238E27FC236}">
                <a16:creationId xmlns:a16="http://schemas.microsoft.com/office/drawing/2014/main" id="{69C7D0BD-F132-7CDE-8612-817EAF5DB79C}"/>
              </a:ext>
            </a:extLst>
          </p:cNvPr>
          <p:cNvPicPr>
            <a:picLocks noGrp="1" noChangeAspect="1"/>
          </p:cNvPicPr>
          <p:nvPr>
            <p:ph idx="1"/>
          </p:nvPr>
        </p:nvPicPr>
        <p:blipFill>
          <a:blip r:embed="rId2"/>
          <a:stretch>
            <a:fillRect/>
          </a:stretch>
        </p:blipFill>
        <p:spPr>
          <a:xfrm>
            <a:off x="1215357" y="1248697"/>
            <a:ext cx="9963919" cy="4748980"/>
          </a:xfrm>
        </p:spPr>
      </p:pic>
    </p:spTree>
    <p:extLst>
      <p:ext uri="{BB962C8B-B14F-4D97-AF65-F5344CB8AC3E}">
        <p14:creationId xmlns:p14="http://schemas.microsoft.com/office/powerpoint/2010/main" val="37704839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3BD32D-0E7C-C948-3F5F-EAB8A49CC98E}"/>
              </a:ext>
            </a:extLst>
          </p:cNvPr>
          <p:cNvSpPr>
            <a:spLocks noGrp="1"/>
          </p:cNvSpPr>
          <p:nvPr>
            <p:ph type="title"/>
          </p:nvPr>
        </p:nvSpPr>
        <p:spPr>
          <a:xfrm>
            <a:off x="657606" y="191729"/>
            <a:ext cx="10772775" cy="580602"/>
          </a:xfrm>
        </p:spPr>
        <p:txBody>
          <a:bodyPr>
            <a:normAutofit fontScale="90000"/>
          </a:bodyPr>
          <a:lstStyle/>
          <a:p>
            <a:r>
              <a:rPr lang="en-US" dirty="0"/>
              <a:t>One Time Pad</a:t>
            </a:r>
            <a:endParaRPr lang="en-IN" dirty="0"/>
          </a:p>
        </p:txBody>
      </p:sp>
      <p:sp>
        <p:nvSpPr>
          <p:cNvPr id="3" name="Content Placeholder 2">
            <a:extLst>
              <a:ext uri="{FF2B5EF4-FFF2-40B4-BE49-F238E27FC236}">
                <a16:creationId xmlns:a16="http://schemas.microsoft.com/office/drawing/2014/main" id="{DD462C51-1416-EA79-4C4F-47B1F5462B73}"/>
              </a:ext>
            </a:extLst>
          </p:cNvPr>
          <p:cNvSpPr>
            <a:spLocks noGrp="1"/>
          </p:cNvSpPr>
          <p:nvPr>
            <p:ph idx="1"/>
          </p:nvPr>
        </p:nvSpPr>
        <p:spPr>
          <a:xfrm>
            <a:off x="676656" y="855406"/>
            <a:ext cx="11092557" cy="5810865"/>
          </a:xfrm>
        </p:spPr>
        <p:txBody>
          <a:bodyPr>
            <a:normAutofit fontScale="92500"/>
          </a:bodyPr>
          <a:lstStyle/>
          <a:p>
            <a:pPr algn="just">
              <a:lnSpc>
                <a:spcPct val="150000"/>
              </a:lnSpc>
            </a:pPr>
            <a:r>
              <a:rPr lang="en-US" dirty="0">
                <a:latin typeface="Times New Roman" panose="02020603050405020304" pitchFamily="18" charset="0"/>
                <a:cs typeface="Times New Roman" panose="02020603050405020304" pitchFamily="18" charset="0"/>
              </a:rPr>
              <a:t>An Army Signal Corp officer, Joseph Mauborgne, proposed an improvement to the </a:t>
            </a:r>
            <a:r>
              <a:rPr lang="en-US" dirty="0" err="1">
                <a:latin typeface="Times New Roman" panose="02020603050405020304" pitchFamily="18" charset="0"/>
                <a:cs typeface="Times New Roman" panose="02020603050405020304" pitchFamily="18" charset="0"/>
              </a:rPr>
              <a:t>Vernam</a:t>
            </a:r>
            <a:r>
              <a:rPr lang="en-US" dirty="0">
                <a:latin typeface="Times New Roman" panose="02020603050405020304" pitchFamily="18" charset="0"/>
                <a:cs typeface="Times New Roman" panose="02020603050405020304" pitchFamily="18" charset="0"/>
              </a:rPr>
              <a:t> cipher that yields the ultimate in security. </a:t>
            </a:r>
          </a:p>
          <a:p>
            <a:pPr algn="just">
              <a:lnSpc>
                <a:spcPct val="150000"/>
              </a:lnSpc>
            </a:pPr>
            <a:r>
              <a:rPr lang="en-US" dirty="0">
                <a:latin typeface="Times New Roman" panose="02020603050405020304" pitchFamily="18" charset="0"/>
                <a:cs typeface="Times New Roman" panose="02020603050405020304" pitchFamily="18" charset="0"/>
              </a:rPr>
              <a:t>Mauborgne suggested using a random key that is as long as the message, so that the key need not be repeated. </a:t>
            </a:r>
          </a:p>
          <a:p>
            <a:pPr algn="just">
              <a:lnSpc>
                <a:spcPct val="150000"/>
              </a:lnSpc>
            </a:pPr>
            <a:r>
              <a:rPr lang="en-US" dirty="0">
                <a:latin typeface="Times New Roman" panose="02020603050405020304" pitchFamily="18" charset="0"/>
                <a:cs typeface="Times New Roman" panose="02020603050405020304" pitchFamily="18" charset="0"/>
              </a:rPr>
              <a:t>In addition, the key is to be used to encrypt and decrypt a single message, and then is discarded. </a:t>
            </a:r>
          </a:p>
          <a:p>
            <a:pPr algn="just">
              <a:lnSpc>
                <a:spcPct val="150000"/>
              </a:lnSpc>
            </a:pPr>
            <a:r>
              <a:rPr lang="en-US" dirty="0">
                <a:latin typeface="Times New Roman" panose="02020603050405020304" pitchFamily="18" charset="0"/>
                <a:cs typeface="Times New Roman" panose="02020603050405020304" pitchFamily="18" charset="0"/>
              </a:rPr>
              <a:t>Each new message requires a new key of the same length as the new message. Such a scheme, known as a one-time pad, is unbreakable. </a:t>
            </a:r>
          </a:p>
          <a:p>
            <a:pPr algn="just">
              <a:lnSpc>
                <a:spcPct val="150000"/>
              </a:lnSpc>
            </a:pPr>
            <a:r>
              <a:rPr lang="en-US" dirty="0">
                <a:latin typeface="Times New Roman" panose="02020603050405020304" pitchFamily="18" charset="0"/>
                <a:cs typeface="Times New Roman" panose="02020603050405020304" pitchFamily="18" charset="0"/>
              </a:rPr>
              <a:t>It produces random output that bears no statistical relationship to the plaintext. Because the ciphertext contains no information whatsoever about the plaintext, there is simply no way to break the code.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6178795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0FFD31-E8C1-9BC9-8717-B649007A4D2C}"/>
              </a:ext>
            </a:extLst>
          </p:cNvPr>
          <p:cNvSpPr>
            <a:spLocks noGrp="1"/>
          </p:cNvSpPr>
          <p:nvPr>
            <p:ph type="title"/>
          </p:nvPr>
        </p:nvSpPr>
        <p:spPr>
          <a:xfrm>
            <a:off x="657606" y="125907"/>
            <a:ext cx="10772775" cy="719667"/>
          </a:xfrm>
        </p:spPr>
        <p:txBody>
          <a:bodyPr>
            <a:normAutofit fontScale="90000"/>
          </a:bodyPr>
          <a:lstStyle/>
          <a:p>
            <a:r>
              <a:rPr lang="en-US" dirty="0" err="1"/>
              <a:t>Contd</a:t>
            </a:r>
            <a:r>
              <a:rPr lang="en-US" dirty="0"/>
              <a:t>…</a:t>
            </a:r>
            <a:endParaRPr lang="en-IN" dirty="0"/>
          </a:p>
        </p:txBody>
      </p:sp>
      <p:sp>
        <p:nvSpPr>
          <p:cNvPr id="3" name="Content Placeholder 2">
            <a:extLst>
              <a:ext uri="{FF2B5EF4-FFF2-40B4-BE49-F238E27FC236}">
                <a16:creationId xmlns:a16="http://schemas.microsoft.com/office/drawing/2014/main" id="{A2DD6D3A-D1FD-2222-544C-F7385C0539B2}"/>
              </a:ext>
            </a:extLst>
          </p:cNvPr>
          <p:cNvSpPr>
            <a:spLocks noGrp="1"/>
          </p:cNvSpPr>
          <p:nvPr>
            <p:ph idx="1"/>
          </p:nvPr>
        </p:nvSpPr>
        <p:spPr>
          <a:xfrm>
            <a:off x="676656" y="1130710"/>
            <a:ext cx="10753725" cy="5407742"/>
          </a:xfrm>
        </p:spPr>
        <p:txBody>
          <a:bodyPr>
            <a:normAutofit lnSpcReduction="10000"/>
          </a:bodyPr>
          <a:lstStyle/>
          <a:p>
            <a:pPr algn="just"/>
            <a:r>
              <a:rPr lang="en-IN" dirty="0">
                <a:latin typeface="Times New Roman" panose="02020603050405020304" pitchFamily="18" charset="0"/>
                <a:cs typeface="Times New Roman" panose="02020603050405020304" pitchFamily="18" charset="0"/>
              </a:rPr>
              <a:t>Consider the ciphertext </a:t>
            </a:r>
          </a:p>
          <a:p>
            <a:pPr algn="just"/>
            <a:r>
              <a:rPr lang="en-IN" dirty="0">
                <a:latin typeface="Times New Roman" panose="02020603050405020304" pitchFamily="18" charset="0"/>
                <a:cs typeface="Times New Roman" panose="02020603050405020304" pitchFamily="18" charset="0"/>
              </a:rPr>
              <a:t>ANKYODKYUREPFJBYOJDSPLREYIUNOFDOIUERFPLUYTS </a:t>
            </a:r>
          </a:p>
          <a:p>
            <a:pPr algn="just"/>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We now show two different decryptions using two different keys: </a:t>
            </a:r>
          </a:p>
          <a:p>
            <a:pPr algn="just"/>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ciphertext: ANKYODKYUREPFJBYOJDSPLREYIUNOFDOIUERFPLUYTS </a:t>
            </a:r>
          </a:p>
          <a:p>
            <a:pPr algn="just"/>
            <a:r>
              <a:rPr lang="en-IN" dirty="0">
                <a:latin typeface="Times New Roman" panose="02020603050405020304" pitchFamily="18" charset="0"/>
                <a:cs typeface="Times New Roman" panose="02020603050405020304" pitchFamily="18" charset="0"/>
              </a:rPr>
              <a:t>key: </a:t>
            </a:r>
            <a:r>
              <a:rPr lang="en-IN" dirty="0" err="1">
                <a:latin typeface="Times New Roman" panose="02020603050405020304" pitchFamily="18" charset="0"/>
                <a:cs typeface="Times New Roman" panose="02020603050405020304" pitchFamily="18" charset="0"/>
              </a:rPr>
              <a:t>pxlmvmsydofuyrvzwctnlebnecvgdupahfzzlmnyih</a:t>
            </a:r>
            <a:r>
              <a:rPr lang="en-IN" dirty="0">
                <a:latin typeface="Times New Roman" panose="02020603050405020304" pitchFamily="18" charset="0"/>
                <a:cs typeface="Times New Roman" panose="02020603050405020304" pitchFamily="18" charset="0"/>
              </a:rPr>
              <a:t> </a:t>
            </a:r>
          </a:p>
          <a:p>
            <a:pPr algn="just"/>
            <a:r>
              <a:rPr lang="en-IN" dirty="0">
                <a:latin typeface="Times New Roman" panose="02020603050405020304" pitchFamily="18" charset="0"/>
                <a:cs typeface="Times New Roman" panose="02020603050405020304" pitchFamily="18" charset="0"/>
              </a:rPr>
              <a:t>plaintext: </a:t>
            </a:r>
            <a:r>
              <a:rPr lang="en-IN" dirty="0" err="1">
                <a:latin typeface="Times New Roman" panose="02020603050405020304" pitchFamily="18" charset="0"/>
                <a:cs typeface="Times New Roman" panose="02020603050405020304" pitchFamily="18" charset="0"/>
              </a:rPr>
              <a:t>mr</a:t>
            </a:r>
            <a:r>
              <a:rPr lang="en-IN" dirty="0">
                <a:latin typeface="Times New Roman" panose="02020603050405020304" pitchFamily="18" charset="0"/>
                <a:cs typeface="Times New Roman" panose="02020603050405020304" pitchFamily="18" charset="0"/>
              </a:rPr>
              <a:t> mustard with the candlestick in the hall </a:t>
            </a:r>
          </a:p>
          <a:p>
            <a:pPr algn="just"/>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ciphertext: ANKYODKYUREPFJBYOJDSPLREYIUNOFDOIUERFPLUYTS </a:t>
            </a:r>
          </a:p>
          <a:p>
            <a:pPr algn="just"/>
            <a:r>
              <a:rPr lang="en-IN" dirty="0">
                <a:latin typeface="Times New Roman" panose="02020603050405020304" pitchFamily="18" charset="0"/>
                <a:cs typeface="Times New Roman" panose="02020603050405020304" pitchFamily="18" charset="0"/>
              </a:rPr>
              <a:t>key: </a:t>
            </a:r>
            <a:r>
              <a:rPr lang="en-IN" dirty="0" err="1">
                <a:latin typeface="Times New Roman" panose="02020603050405020304" pitchFamily="18" charset="0"/>
                <a:cs typeface="Times New Roman" panose="02020603050405020304" pitchFamily="18" charset="0"/>
              </a:rPr>
              <a:t>pftgpmiydgaxgoufhklllmhsqdqogtewbqfgyovuhwt</a:t>
            </a:r>
            <a:r>
              <a:rPr lang="en-IN" dirty="0">
                <a:latin typeface="Times New Roman" panose="02020603050405020304" pitchFamily="18" charset="0"/>
                <a:cs typeface="Times New Roman" panose="02020603050405020304" pitchFamily="18" charset="0"/>
              </a:rPr>
              <a:t> </a:t>
            </a:r>
          </a:p>
          <a:p>
            <a:pPr algn="just"/>
            <a:r>
              <a:rPr lang="en-IN" dirty="0">
                <a:latin typeface="Times New Roman" panose="02020603050405020304" pitchFamily="18" charset="0"/>
                <a:cs typeface="Times New Roman" panose="02020603050405020304" pitchFamily="18" charset="0"/>
              </a:rPr>
              <a:t>plaintext: miss scarlet with the knife in the library</a:t>
            </a:r>
          </a:p>
        </p:txBody>
      </p:sp>
    </p:spTree>
    <p:extLst>
      <p:ext uri="{BB962C8B-B14F-4D97-AF65-F5344CB8AC3E}">
        <p14:creationId xmlns:p14="http://schemas.microsoft.com/office/powerpoint/2010/main" val="42079121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F62FD8-E443-6F39-854F-AA8C2C79AC41}"/>
              </a:ext>
            </a:extLst>
          </p:cNvPr>
          <p:cNvSpPr>
            <a:spLocks noGrp="1"/>
          </p:cNvSpPr>
          <p:nvPr>
            <p:ph type="title"/>
          </p:nvPr>
        </p:nvSpPr>
        <p:spPr>
          <a:xfrm>
            <a:off x="676274" y="243894"/>
            <a:ext cx="10772775" cy="749164"/>
          </a:xfrm>
        </p:spPr>
        <p:txBody>
          <a:bodyPr>
            <a:normAutofit fontScale="90000"/>
          </a:bodyPr>
          <a:lstStyle/>
          <a:p>
            <a:r>
              <a:rPr lang="en-US" dirty="0"/>
              <a:t>Contd..</a:t>
            </a:r>
            <a:endParaRPr lang="en-IN" dirty="0"/>
          </a:p>
        </p:txBody>
      </p:sp>
      <p:sp>
        <p:nvSpPr>
          <p:cNvPr id="3" name="Content Placeholder 2">
            <a:extLst>
              <a:ext uri="{FF2B5EF4-FFF2-40B4-BE49-F238E27FC236}">
                <a16:creationId xmlns:a16="http://schemas.microsoft.com/office/drawing/2014/main" id="{B5A93C6F-FE07-F627-EDD0-11F90293D87F}"/>
              </a:ext>
            </a:extLst>
          </p:cNvPr>
          <p:cNvSpPr>
            <a:spLocks noGrp="1"/>
          </p:cNvSpPr>
          <p:nvPr>
            <p:ph idx="1"/>
          </p:nvPr>
        </p:nvSpPr>
        <p:spPr>
          <a:xfrm>
            <a:off x="676656" y="993058"/>
            <a:ext cx="10846750" cy="5525729"/>
          </a:xfrm>
        </p:spPr>
        <p:txBody>
          <a:bodyPr/>
          <a:lstStyle/>
          <a:p>
            <a:pPr algn="just">
              <a:lnSpc>
                <a:spcPct val="150000"/>
              </a:lnSpc>
            </a:pPr>
            <a:r>
              <a:rPr lang="en-US" dirty="0">
                <a:latin typeface="Times New Roman" panose="02020603050405020304" pitchFamily="18" charset="0"/>
                <a:cs typeface="Times New Roman" panose="02020603050405020304" pitchFamily="18" charset="0"/>
              </a:rPr>
              <a:t>In theory, we need look no further for a cipher. The one-time pad offers complete security but, in practice, has two fundamental difficulties: </a:t>
            </a:r>
          </a:p>
          <a:p>
            <a:pPr algn="just">
              <a:lnSpc>
                <a:spcPct val="150000"/>
              </a:lnSpc>
            </a:pPr>
            <a:r>
              <a:rPr lang="en-US" dirty="0">
                <a:latin typeface="Times New Roman" panose="02020603050405020304" pitchFamily="18" charset="0"/>
                <a:cs typeface="Times New Roman" panose="02020603050405020304" pitchFamily="18" charset="0"/>
              </a:rPr>
              <a:t>1. There is the practical problem of making large quantities of random keys. Any heavily used system might require millions of random characters on a regular basis. Supplying truly random characters in this volume is a significant task. </a:t>
            </a:r>
          </a:p>
          <a:p>
            <a:pPr algn="just">
              <a:lnSpc>
                <a:spcPct val="150000"/>
              </a:lnSpc>
            </a:pPr>
            <a:r>
              <a:rPr lang="en-US" dirty="0">
                <a:latin typeface="Times New Roman" panose="02020603050405020304" pitchFamily="18" charset="0"/>
                <a:cs typeface="Times New Roman" panose="02020603050405020304" pitchFamily="18" charset="0"/>
              </a:rPr>
              <a:t>2. Even more daunting is the problem of key distribution and protection. For every message to be sent, a key of equal length is needed by both sender and receiver. Thus, a mammoth key distribution problem exists.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9358693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11F5B2-D7D2-F577-A85D-D8C63BCEA184}"/>
              </a:ext>
            </a:extLst>
          </p:cNvPr>
          <p:cNvSpPr>
            <a:spLocks noGrp="1"/>
          </p:cNvSpPr>
          <p:nvPr>
            <p:ph type="title"/>
          </p:nvPr>
        </p:nvSpPr>
        <p:spPr>
          <a:xfrm>
            <a:off x="676274" y="214398"/>
            <a:ext cx="10772775" cy="749164"/>
          </a:xfrm>
        </p:spPr>
        <p:txBody>
          <a:bodyPr>
            <a:normAutofit fontScale="90000"/>
          </a:bodyPr>
          <a:lstStyle/>
          <a:p>
            <a:r>
              <a:rPr lang="en-US" dirty="0" err="1"/>
              <a:t>Stegnography</a:t>
            </a:r>
            <a:r>
              <a:rPr lang="en-US" dirty="0"/>
              <a:t> </a:t>
            </a:r>
            <a:endParaRPr lang="en-IN" dirty="0"/>
          </a:p>
        </p:txBody>
      </p:sp>
      <p:sp>
        <p:nvSpPr>
          <p:cNvPr id="3" name="Content Placeholder 2">
            <a:extLst>
              <a:ext uri="{FF2B5EF4-FFF2-40B4-BE49-F238E27FC236}">
                <a16:creationId xmlns:a16="http://schemas.microsoft.com/office/drawing/2014/main" id="{8DFDF0BF-B8DD-83A9-CF1C-DC4D8F77CD68}"/>
              </a:ext>
            </a:extLst>
          </p:cNvPr>
          <p:cNvSpPr>
            <a:spLocks noGrp="1"/>
          </p:cNvSpPr>
          <p:nvPr>
            <p:ph idx="1"/>
          </p:nvPr>
        </p:nvSpPr>
        <p:spPr>
          <a:xfrm>
            <a:off x="676656" y="1189704"/>
            <a:ext cx="10753725" cy="5453898"/>
          </a:xfrm>
        </p:spPr>
        <p:txBody>
          <a:bodyPr/>
          <a:lstStyle/>
          <a:p>
            <a:pPr algn="just">
              <a:lnSpc>
                <a:spcPct val="150000"/>
              </a:lnSpc>
            </a:pPr>
            <a:r>
              <a:rPr lang="en-US" dirty="0">
                <a:latin typeface="Times New Roman" panose="02020603050405020304" pitchFamily="18" charset="0"/>
                <a:cs typeface="Times New Roman" panose="02020603050405020304" pitchFamily="18" charset="0"/>
              </a:rPr>
              <a:t>We conclude with a discussion of a technique that (strictly speaking), is not encryption, namely, steganography. A plaintext message may be hidden in one of two ways. The methods of steganography conceal the existence of the message, whereas the methods of cryptography render the message unintelligible to outsiders by various transformations of the text, A simple form of steganography, but one that is time-consuming to construct, is one in which an arrangement of words or letters within an apparently innocuous text spells out the real message. For example, the sequence of first letters of each word of the overall message spells out the hidden message.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7275990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2C9C1A-6C92-48B9-67E8-64EEF2334ECE}"/>
              </a:ext>
            </a:extLst>
          </p:cNvPr>
          <p:cNvSpPr>
            <a:spLocks noGrp="1"/>
          </p:cNvSpPr>
          <p:nvPr>
            <p:ph type="title"/>
          </p:nvPr>
        </p:nvSpPr>
        <p:spPr>
          <a:xfrm>
            <a:off x="657224" y="499533"/>
            <a:ext cx="10772775" cy="580602"/>
          </a:xfrm>
        </p:spPr>
        <p:txBody>
          <a:bodyPr>
            <a:normAutofit fontScale="90000"/>
          </a:bodyPr>
          <a:lstStyle/>
          <a:p>
            <a:r>
              <a:rPr lang="en-US" dirty="0"/>
              <a:t>Contd..</a:t>
            </a:r>
            <a:endParaRPr lang="en-IN" dirty="0"/>
          </a:p>
        </p:txBody>
      </p:sp>
      <p:sp>
        <p:nvSpPr>
          <p:cNvPr id="3" name="Content Placeholder 2">
            <a:extLst>
              <a:ext uri="{FF2B5EF4-FFF2-40B4-BE49-F238E27FC236}">
                <a16:creationId xmlns:a16="http://schemas.microsoft.com/office/drawing/2014/main" id="{5BB8FD01-6393-6B0D-605C-93D29271E266}"/>
              </a:ext>
            </a:extLst>
          </p:cNvPr>
          <p:cNvSpPr>
            <a:spLocks noGrp="1"/>
          </p:cNvSpPr>
          <p:nvPr>
            <p:ph idx="1"/>
          </p:nvPr>
        </p:nvSpPr>
        <p:spPr>
          <a:xfrm>
            <a:off x="676656" y="1170039"/>
            <a:ext cx="10753725" cy="5427405"/>
          </a:xfrm>
        </p:spPr>
        <p:txBody>
          <a:bodyPr>
            <a:normAutofit fontScale="92500"/>
          </a:bodyPr>
          <a:lstStyle/>
          <a:p>
            <a:pPr>
              <a:lnSpc>
                <a:spcPct val="150000"/>
              </a:lnSpc>
            </a:pPr>
            <a:r>
              <a:rPr lang="en-US" dirty="0">
                <a:latin typeface="Times New Roman" panose="02020603050405020304" pitchFamily="18" charset="0"/>
                <a:cs typeface="Times New Roman" panose="02020603050405020304" pitchFamily="18" charset="0"/>
              </a:rPr>
              <a:t>Various other techniques have been used historically;</a:t>
            </a:r>
          </a:p>
          <a:p>
            <a:pPr>
              <a:lnSpc>
                <a:spcPct val="150000"/>
              </a:lnSpc>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Character marking: Selected letters of printed or typewritten text are over written in pencil. The marks are ordinarily not visible unless the paper is held at an angle to bright light. </a:t>
            </a:r>
          </a:p>
          <a:p>
            <a:pPr>
              <a:lnSpc>
                <a:spcPct val="150000"/>
              </a:lnSpc>
            </a:pPr>
            <a:r>
              <a:rPr lang="en-US" dirty="0">
                <a:latin typeface="Times New Roman" panose="02020603050405020304" pitchFamily="18" charset="0"/>
                <a:cs typeface="Times New Roman" panose="02020603050405020304" pitchFamily="18" charset="0"/>
              </a:rPr>
              <a:t>■ Invisible ink: A number of substances can be used for writing but leave no visible trace until heat or some chemical is applied to the paper. </a:t>
            </a:r>
          </a:p>
          <a:p>
            <a:pPr>
              <a:lnSpc>
                <a:spcPct val="150000"/>
              </a:lnSpc>
            </a:pPr>
            <a:r>
              <a:rPr lang="en-US" dirty="0">
                <a:latin typeface="Times New Roman" panose="02020603050405020304" pitchFamily="18" charset="0"/>
                <a:cs typeface="Times New Roman" panose="02020603050405020304" pitchFamily="18" charset="0"/>
              </a:rPr>
              <a:t>■ Pin punctures: Small pin punctures on selected letters are ordinarily not visible unless the paper is held up in front of a light. </a:t>
            </a:r>
          </a:p>
          <a:p>
            <a:pPr>
              <a:lnSpc>
                <a:spcPct val="150000"/>
              </a:lnSpc>
            </a:pPr>
            <a:r>
              <a:rPr lang="en-US" dirty="0">
                <a:latin typeface="Times New Roman" panose="02020603050405020304" pitchFamily="18" charset="0"/>
                <a:cs typeface="Times New Roman" panose="02020603050405020304" pitchFamily="18" charset="0"/>
              </a:rPr>
              <a:t>■ Typewriter correction ribbon: Used between lines typed with a black ribbon, the results of typing with the correction tape are visible only under a strong light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712467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72D81F-F1C2-CF99-35C8-4D89598B3B1F}"/>
              </a:ext>
            </a:extLst>
          </p:cNvPr>
          <p:cNvSpPr>
            <a:spLocks noGrp="1"/>
          </p:cNvSpPr>
          <p:nvPr>
            <p:ph type="title"/>
          </p:nvPr>
        </p:nvSpPr>
        <p:spPr>
          <a:xfrm>
            <a:off x="657606" y="184901"/>
            <a:ext cx="10772775" cy="650841"/>
          </a:xfrm>
        </p:spPr>
        <p:txBody>
          <a:bodyPr>
            <a:normAutofit fontScale="90000"/>
          </a:bodyPr>
          <a:lstStyle/>
          <a:p>
            <a:r>
              <a:rPr lang="en-US" dirty="0"/>
              <a:t>Contd..</a:t>
            </a:r>
            <a:endParaRPr lang="en-IN" dirty="0"/>
          </a:p>
        </p:txBody>
      </p:sp>
      <p:sp>
        <p:nvSpPr>
          <p:cNvPr id="3" name="Content Placeholder 2">
            <a:extLst>
              <a:ext uri="{FF2B5EF4-FFF2-40B4-BE49-F238E27FC236}">
                <a16:creationId xmlns:a16="http://schemas.microsoft.com/office/drawing/2014/main" id="{ADE84C0C-1B32-FF6B-6C53-8C91B86B8AA1}"/>
              </a:ext>
            </a:extLst>
          </p:cNvPr>
          <p:cNvSpPr>
            <a:spLocks noGrp="1"/>
          </p:cNvSpPr>
          <p:nvPr>
            <p:ph idx="1"/>
          </p:nvPr>
        </p:nvSpPr>
        <p:spPr>
          <a:xfrm>
            <a:off x="676656" y="835742"/>
            <a:ext cx="10753725" cy="5702710"/>
          </a:xfrm>
        </p:spPr>
        <p:txBody>
          <a:bodyPr>
            <a:normAutofit/>
          </a:bodyPr>
          <a:lstStyle/>
          <a:p>
            <a:pPr algn="just">
              <a:lnSpc>
                <a:spcPct val="150000"/>
              </a:lnSpc>
            </a:pPr>
            <a:r>
              <a:rPr lang="en-US" dirty="0">
                <a:latin typeface="Times New Roman" panose="02020603050405020304" pitchFamily="18" charset="0"/>
                <a:cs typeface="Times New Roman" panose="02020603050405020304" pitchFamily="18" charset="0"/>
              </a:rPr>
              <a:t>Steganography has a number of drawbacks when compared to encryption. </a:t>
            </a:r>
          </a:p>
          <a:p>
            <a:pPr algn="just">
              <a:lnSpc>
                <a:spcPct val="150000"/>
              </a:lnSpc>
            </a:pPr>
            <a:r>
              <a:rPr lang="en-US" dirty="0">
                <a:latin typeface="Times New Roman" panose="02020603050405020304" pitchFamily="18" charset="0"/>
                <a:cs typeface="Times New Roman" panose="02020603050405020304" pitchFamily="18" charset="0"/>
              </a:rPr>
              <a:t>It requires a lot of overhead to hide a relatively few bits of information, although using a scheme like that proposed in the preceding paragraph may make it more effective. </a:t>
            </a:r>
          </a:p>
          <a:p>
            <a:pPr algn="just">
              <a:lnSpc>
                <a:spcPct val="150000"/>
              </a:lnSpc>
            </a:pPr>
            <a:r>
              <a:rPr lang="en-US" dirty="0">
                <a:latin typeface="Times New Roman" panose="02020603050405020304" pitchFamily="18" charset="0"/>
                <a:cs typeface="Times New Roman" panose="02020603050405020304" pitchFamily="18" charset="0"/>
              </a:rPr>
              <a:t>Also, once the system is discovered, it becomes virtually worthless. </a:t>
            </a:r>
          </a:p>
          <a:p>
            <a:pPr algn="just">
              <a:lnSpc>
                <a:spcPct val="150000"/>
              </a:lnSpc>
            </a:pPr>
            <a:r>
              <a:rPr lang="en-US" dirty="0">
                <a:latin typeface="Times New Roman" panose="02020603050405020304" pitchFamily="18" charset="0"/>
                <a:cs typeface="Times New Roman" panose="02020603050405020304" pitchFamily="18" charset="0"/>
              </a:rPr>
              <a:t>This problem, too, can be overcome if the insertion method depends on some sort of key Alternatively, a message can be first encrypted and then hidden using steganography.</a:t>
            </a:r>
          </a:p>
          <a:p>
            <a:pPr algn="just">
              <a:lnSpc>
                <a:spcPct val="150000"/>
              </a:lnSpc>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3931895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F2AC8A-01EF-992F-1488-03E318DD113E}"/>
              </a:ext>
            </a:extLst>
          </p:cNvPr>
          <p:cNvSpPr>
            <a:spLocks noGrp="1"/>
          </p:cNvSpPr>
          <p:nvPr>
            <p:ph type="title"/>
          </p:nvPr>
        </p:nvSpPr>
        <p:spPr>
          <a:xfrm>
            <a:off x="676274" y="273391"/>
            <a:ext cx="10772775" cy="650841"/>
          </a:xfrm>
        </p:spPr>
        <p:txBody>
          <a:bodyPr>
            <a:normAutofit fontScale="90000"/>
          </a:bodyPr>
          <a:lstStyle/>
          <a:p>
            <a:r>
              <a:rPr lang="en-US" dirty="0"/>
              <a:t>Contd..</a:t>
            </a:r>
            <a:endParaRPr lang="en-IN" dirty="0"/>
          </a:p>
        </p:txBody>
      </p:sp>
      <p:sp>
        <p:nvSpPr>
          <p:cNvPr id="3" name="Content Placeholder 2">
            <a:extLst>
              <a:ext uri="{FF2B5EF4-FFF2-40B4-BE49-F238E27FC236}">
                <a16:creationId xmlns:a16="http://schemas.microsoft.com/office/drawing/2014/main" id="{DA073931-9205-AE3C-2F0E-DC2AFD789109}"/>
              </a:ext>
            </a:extLst>
          </p:cNvPr>
          <p:cNvSpPr>
            <a:spLocks noGrp="1"/>
          </p:cNvSpPr>
          <p:nvPr>
            <p:ph idx="1"/>
          </p:nvPr>
        </p:nvSpPr>
        <p:spPr>
          <a:xfrm>
            <a:off x="676656" y="1091382"/>
            <a:ext cx="10753725" cy="4686484"/>
          </a:xfrm>
        </p:spPr>
        <p:txBody>
          <a:bodyPr/>
          <a:lstStyle/>
          <a:p>
            <a:pPr algn="just">
              <a:lnSpc>
                <a:spcPct val="150000"/>
              </a:lnSpc>
            </a:pPr>
            <a:r>
              <a:rPr lang="en-US" dirty="0">
                <a:latin typeface="Times New Roman" panose="02020603050405020304" pitchFamily="18" charset="0"/>
                <a:cs typeface="Times New Roman" panose="02020603050405020304" pitchFamily="18" charset="0"/>
              </a:rPr>
              <a:t>The advantage of steganography is that it can be employed by parties who have something to lose should the fact of their secret communication (not necessarily the content) be discovered. </a:t>
            </a:r>
          </a:p>
          <a:p>
            <a:pPr algn="just">
              <a:lnSpc>
                <a:spcPct val="150000"/>
              </a:lnSpc>
            </a:pPr>
            <a:r>
              <a:rPr lang="en-US" dirty="0">
                <a:latin typeface="Times New Roman" panose="02020603050405020304" pitchFamily="18" charset="0"/>
                <a:cs typeface="Times New Roman" panose="02020603050405020304" pitchFamily="18" charset="0"/>
              </a:rPr>
              <a:t>Encryption flags traffic as important or secret or may identify the sender or receiver as someone with something to hide.</a:t>
            </a:r>
            <a:endParaRPr lang="en-IN" dirty="0">
              <a:latin typeface="Times New Roman" panose="02020603050405020304" pitchFamily="18" charset="0"/>
              <a:cs typeface="Times New Roman" panose="02020603050405020304" pitchFamily="18" charset="0"/>
            </a:endParaRPr>
          </a:p>
          <a:p>
            <a:pPr algn="just">
              <a:lnSpc>
                <a:spcPct val="150000"/>
              </a:lnSpc>
            </a:pPr>
            <a:endParaRPr lang="en-IN" dirty="0"/>
          </a:p>
        </p:txBody>
      </p:sp>
    </p:spTree>
    <p:extLst>
      <p:ext uri="{BB962C8B-B14F-4D97-AF65-F5344CB8AC3E}">
        <p14:creationId xmlns:p14="http://schemas.microsoft.com/office/powerpoint/2010/main" val="220149008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81235F-F9DE-AD17-330B-0413A48C3B84}"/>
              </a:ext>
            </a:extLst>
          </p:cNvPr>
          <p:cNvSpPr>
            <a:spLocks noGrp="1"/>
          </p:cNvSpPr>
          <p:nvPr>
            <p:ph type="title"/>
          </p:nvPr>
        </p:nvSpPr>
        <p:spPr>
          <a:xfrm>
            <a:off x="657224" y="98323"/>
            <a:ext cx="11003834" cy="816077"/>
          </a:xfrm>
        </p:spPr>
        <p:txBody>
          <a:bodyPr>
            <a:normAutofit/>
          </a:bodyPr>
          <a:lstStyle/>
          <a:p>
            <a:r>
              <a:rPr lang="en-US" sz="4000" dirty="0"/>
              <a:t>Chapter 4: Block Ciphers and Data Encryption Standard</a:t>
            </a:r>
            <a:endParaRPr lang="en-IN" sz="4000" dirty="0"/>
          </a:p>
        </p:txBody>
      </p:sp>
      <p:sp>
        <p:nvSpPr>
          <p:cNvPr id="3" name="Content Placeholder 2">
            <a:extLst>
              <a:ext uri="{FF2B5EF4-FFF2-40B4-BE49-F238E27FC236}">
                <a16:creationId xmlns:a16="http://schemas.microsoft.com/office/drawing/2014/main" id="{05395980-FA17-BF26-3B50-D7808AF7FF68}"/>
              </a:ext>
            </a:extLst>
          </p:cNvPr>
          <p:cNvSpPr>
            <a:spLocks noGrp="1"/>
          </p:cNvSpPr>
          <p:nvPr>
            <p:ph idx="1"/>
          </p:nvPr>
        </p:nvSpPr>
        <p:spPr>
          <a:xfrm>
            <a:off x="676656" y="914400"/>
            <a:ext cx="10858120" cy="5702710"/>
          </a:xfrm>
        </p:spPr>
        <p:txBody>
          <a:bodyPr>
            <a:normAutofit fontScale="85000" lnSpcReduction="20000"/>
          </a:bodyPr>
          <a:lstStyle/>
          <a:p>
            <a:pPr algn="just">
              <a:lnSpc>
                <a:spcPct val="150000"/>
              </a:lnSpc>
            </a:pPr>
            <a:r>
              <a:rPr lang="en-US" sz="3200" dirty="0">
                <a:latin typeface="Times New Roman" panose="02020603050405020304" pitchFamily="18" charset="0"/>
                <a:cs typeface="Times New Roman" panose="02020603050405020304" pitchFamily="18" charset="0"/>
              </a:rPr>
              <a:t>A stream cipher is one that encrypts a digital data stream one bit or one byte at a time. Examples of classical stream ciphers are the auto keyed Vigenère cipher and the </a:t>
            </a:r>
            <a:r>
              <a:rPr lang="en-US" sz="3200" dirty="0" err="1">
                <a:latin typeface="Times New Roman" panose="02020603050405020304" pitchFamily="18" charset="0"/>
                <a:cs typeface="Times New Roman" panose="02020603050405020304" pitchFamily="18" charset="0"/>
              </a:rPr>
              <a:t>Vernam</a:t>
            </a:r>
            <a:r>
              <a:rPr lang="en-US" sz="3200" dirty="0">
                <a:latin typeface="Times New Roman" panose="02020603050405020304" pitchFamily="18" charset="0"/>
                <a:cs typeface="Times New Roman" panose="02020603050405020304" pitchFamily="18" charset="0"/>
              </a:rPr>
              <a:t> cipher. </a:t>
            </a:r>
          </a:p>
          <a:p>
            <a:pPr algn="just">
              <a:lnSpc>
                <a:spcPct val="150000"/>
              </a:lnSpc>
            </a:pPr>
            <a:r>
              <a:rPr lang="en-US" sz="3200" dirty="0">
                <a:latin typeface="Times New Roman" panose="02020603050405020304" pitchFamily="18" charset="0"/>
                <a:cs typeface="Times New Roman" panose="02020603050405020304" pitchFamily="18" charset="0"/>
              </a:rPr>
              <a:t>In the ideal case, a one-time pad version of the </a:t>
            </a:r>
            <a:r>
              <a:rPr lang="en-US" sz="3200" dirty="0" err="1">
                <a:latin typeface="Times New Roman" panose="02020603050405020304" pitchFamily="18" charset="0"/>
                <a:cs typeface="Times New Roman" panose="02020603050405020304" pitchFamily="18" charset="0"/>
              </a:rPr>
              <a:t>Vernam</a:t>
            </a:r>
            <a:r>
              <a:rPr lang="en-US" sz="3200" dirty="0">
                <a:latin typeface="Times New Roman" panose="02020603050405020304" pitchFamily="18" charset="0"/>
                <a:cs typeface="Times New Roman" panose="02020603050405020304" pitchFamily="18" charset="0"/>
              </a:rPr>
              <a:t> cipher would be used. </a:t>
            </a:r>
          </a:p>
          <a:p>
            <a:pPr algn="just">
              <a:lnSpc>
                <a:spcPct val="150000"/>
              </a:lnSpc>
            </a:pPr>
            <a:r>
              <a:rPr lang="en-US" sz="3200" dirty="0">
                <a:latin typeface="Times New Roman" panose="02020603050405020304" pitchFamily="18" charset="0"/>
                <a:cs typeface="Times New Roman" panose="02020603050405020304" pitchFamily="18" charset="0"/>
              </a:rPr>
              <a:t>A block cipher is one in which a block of plaintext is treated as a whole and used to produce a ciphertext block of equal length. </a:t>
            </a:r>
          </a:p>
          <a:p>
            <a:pPr algn="just">
              <a:lnSpc>
                <a:spcPct val="150000"/>
              </a:lnSpc>
            </a:pPr>
            <a:r>
              <a:rPr lang="en-US" sz="3200" dirty="0">
                <a:latin typeface="Times New Roman" panose="02020603050405020304" pitchFamily="18" charset="0"/>
                <a:cs typeface="Times New Roman" panose="02020603050405020304" pitchFamily="18" charset="0"/>
              </a:rPr>
              <a:t>Typically, a block size of 64 or 128 bits is used. </a:t>
            </a:r>
          </a:p>
          <a:p>
            <a:pPr algn="just">
              <a:lnSpc>
                <a:spcPct val="150000"/>
              </a:lnSpc>
            </a:pPr>
            <a:r>
              <a:rPr lang="en-US" sz="3200" dirty="0">
                <a:latin typeface="Times New Roman" panose="02020603050405020304" pitchFamily="18" charset="0"/>
                <a:cs typeface="Times New Roman" panose="02020603050405020304" pitchFamily="18" charset="0"/>
              </a:rPr>
              <a:t>As with a stream cipher, the two users share a symmetric encryption key </a:t>
            </a:r>
            <a:endParaRPr lang="en-IN"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2870789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607C42D-C12C-2423-C8D6-253EF69727E9}"/>
              </a:ext>
            </a:extLst>
          </p:cNvPr>
          <p:cNvPicPr>
            <a:picLocks noGrp="1" noChangeAspect="1"/>
          </p:cNvPicPr>
          <p:nvPr>
            <p:ph idx="1"/>
          </p:nvPr>
        </p:nvPicPr>
        <p:blipFill>
          <a:blip r:embed="rId2"/>
          <a:stretch>
            <a:fillRect/>
          </a:stretch>
        </p:blipFill>
        <p:spPr>
          <a:xfrm>
            <a:off x="806245" y="1266232"/>
            <a:ext cx="5377937" cy="3472916"/>
          </a:xfrm>
        </p:spPr>
      </p:pic>
      <p:pic>
        <p:nvPicPr>
          <p:cNvPr id="7" name="Picture 6">
            <a:extLst>
              <a:ext uri="{FF2B5EF4-FFF2-40B4-BE49-F238E27FC236}">
                <a16:creationId xmlns:a16="http://schemas.microsoft.com/office/drawing/2014/main" id="{65DCDEAC-B2AC-A86F-6622-DB501A897DEB}"/>
              </a:ext>
            </a:extLst>
          </p:cNvPr>
          <p:cNvPicPr>
            <a:picLocks noChangeAspect="1"/>
          </p:cNvPicPr>
          <p:nvPr/>
        </p:nvPicPr>
        <p:blipFill>
          <a:blip r:embed="rId3"/>
          <a:stretch>
            <a:fillRect/>
          </a:stretch>
        </p:blipFill>
        <p:spPr>
          <a:xfrm>
            <a:off x="6894410" y="1266232"/>
            <a:ext cx="4587977" cy="3472915"/>
          </a:xfrm>
          <a:prstGeom prst="rect">
            <a:avLst/>
          </a:prstGeom>
        </p:spPr>
      </p:pic>
      <p:sp>
        <p:nvSpPr>
          <p:cNvPr id="9" name="TextBox 8">
            <a:extLst>
              <a:ext uri="{FF2B5EF4-FFF2-40B4-BE49-F238E27FC236}">
                <a16:creationId xmlns:a16="http://schemas.microsoft.com/office/drawing/2014/main" id="{724A7354-A780-741D-A951-BD1543D5A7CE}"/>
              </a:ext>
            </a:extLst>
          </p:cNvPr>
          <p:cNvSpPr txBox="1"/>
          <p:nvPr/>
        </p:nvSpPr>
        <p:spPr>
          <a:xfrm>
            <a:off x="1258529" y="4945437"/>
            <a:ext cx="4699819" cy="646331"/>
          </a:xfrm>
          <a:prstGeom prst="rect">
            <a:avLst/>
          </a:prstGeom>
          <a:noFill/>
        </p:spPr>
        <p:txBody>
          <a:bodyPr wrap="square">
            <a:spAutoFit/>
          </a:bodyPr>
          <a:lstStyle/>
          <a:p>
            <a:r>
              <a:rPr lang="en-US" dirty="0"/>
              <a:t>Stream cipher using algorithmic bit-stream generator</a:t>
            </a:r>
            <a:endParaRPr lang="en-IN" dirty="0"/>
          </a:p>
        </p:txBody>
      </p:sp>
      <p:sp>
        <p:nvSpPr>
          <p:cNvPr id="11" name="TextBox 10">
            <a:extLst>
              <a:ext uri="{FF2B5EF4-FFF2-40B4-BE49-F238E27FC236}">
                <a16:creationId xmlns:a16="http://schemas.microsoft.com/office/drawing/2014/main" id="{B8547269-D7B8-2C7A-06DE-60EE249EC13E}"/>
              </a:ext>
            </a:extLst>
          </p:cNvPr>
          <p:cNvSpPr txBox="1"/>
          <p:nvPr/>
        </p:nvSpPr>
        <p:spPr>
          <a:xfrm>
            <a:off x="7521677" y="4945437"/>
            <a:ext cx="4178710" cy="369332"/>
          </a:xfrm>
          <a:prstGeom prst="rect">
            <a:avLst/>
          </a:prstGeom>
          <a:noFill/>
        </p:spPr>
        <p:txBody>
          <a:bodyPr wrap="square">
            <a:spAutoFit/>
          </a:bodyPr>
          <a:lstStyle/>
          <a:p>
            <a:r>
              <a:rPr lang="en-US" dirty="0"/>
              <a:t>Block Cipher </a:t>
            </a:r>
            <a:endParaRPr lang="en-IN" dirty="0"/>
          </a:p>
        </p:txBody>
      </p:sp>
    </p:spTree>
    <p:extLst>
      <p:ext uri="{BB962C8B-B14F-4D97-AF65-F5344CB8AC3E}">
        <p14:creationId xmlns:p14="http://schemas.microsoft.com/office/powerpoint/2010/main" val="2505919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barn(inVertical)">
                                      <p:cBhvr>
                                        <p:cTn id="14" dur="500"/>
                                        <p:tgtEl>
                                          <p:spTgt spid="7"/>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1000"/>
                                        <p:tgtEl>
                                          <p:spTgt spid="9"/>
                                        </p:tgtEl>
                                      </p:cBhvr>
                                    </p:animEffect>
                                    <p:anim calcmode="lin" valueType="num">
                                      <p:cBhvr>
                                        <p:cTn id="20" dur="1000" fill="hold"/>
                                        <p:tgtEl>
                                          <p:spTgt spid="9"/>
                                        </p:tgtEl>
                                        <p:attrNameLst>
                                          <p:attrName>ppt_x</p:attrName>
                                        </p:attrNameLst>
                                      </p:cBhvr>
                                      <p:tavLst>
                                        <p:tav tm="0">
                                          <p:val>
                                            <p:strVal val="#ppt_x"/>
                                          </p:val>
                                        </p:tav>
                                        <p:tav tm="100000">
                                          <p:val>
                                            <p:strVal val="#ppt_x"/>
                                          </p:val>
                                        </p:tav>
                                      </p:tavLst>
                                    </p:anim>
                                    <p:anim calcmode="lin" valueType="num">
                                      <p:cBhvr>
                                        <p:cTn id="21"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1000"/>
                                        <p:tgtEl>
                                          <p:spTgt spid="11"/>
                                        </p:tgtEl>
                                      </p:cBhvr>
                                    </p:animEffect>
                                    <p:anim calcmode="lin" valueType="num">
                                      <p:cBhvr>
                                        <p:cTn id="27" dur="1000" fill="hold"/>
                                        <p:tgtEl>
                                          <p:spTgt spid="11"/>
                                        </p:tgtEl>
                                        <p:attrNameLst>
                                          <p:attrName>ppt_x</p:attrName>
                                        </p:attrNameLst>
                                      </p:cBhvr>
                                      <p:tavLst>
                                        <p:tav tm="0">
                                          <p:val>
                                            <p:strVal val="#ppt_x"/>
                                          </p:val>
                                        </p:tav>
                                        <p:tav tm="100000">
                                          <p:val>
                                            <p:strVal val="#ppt_x"/>
                                          </p:val>
                                        </p:tav>
                                      </p:tavLst>
                                    </p:anim>
                                    <p:anim calcmode="lin" valueType="num">
                                      <p:cBhvr>
                                        <p:cTn id="28"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051DA7-0415-8A48-CD56-8CD0E2ABA222}"/>
              </a:ext>
            </a:extLst>
          </p:cNvPr>
          <p:cNvSpPr>
            <a:spLocks noGrp="1"/>
          </p:cNvSpPr>
          <p:nvPr>
            <p:ph type="title"/>
          </p:nvPr>
        </p:nvSpPr>
        <p:spPr>
          <a:xfrm>
            <a:off x="657606" y="243895"/>
            <a:ext cx="10772775" cy="580602"/>
          </a:xfrm>
        </p:spPr>
        <p:txBody>
          <a:bodyPr>
            <a:normAutofit fontScale="90000"/>
          </a:bodyPr>
          <a:lstStyle/>
          <a:p>
            <a:r>
              <a:rPr lang="en-US" dirty="0"/>
              <a:t>Feistel Cipher</a:t>
            </a:r>
            <a:endParaRPr lang="en-IN" dirty="0"/>
          </a:p>
        </p:txBody>
      </p:sp>
      <p:sp>
        <p:nvSpPr>
          <p:cNvPr id="3" name="Content Placeholder 2">
            <a:extLst>
              <a:ext uri="{FF2B5EF4-FFF2-40B4-BE49-F238E27FC236}">
                <a16:creationId xmlns:a16="http://schemas.microsoft.com/office/drawing/2014/main" id="{91D7655F-27C3-06E3-463A-A8D50A3DE28C}"/>
              </a:ext>
            </a:extLst>
          </p:cNvPr>
          <p:cNvSpPr>
            <a:spLocks noGrp="1"/>
          </p:cNvSpPr>
          <p:nvPr>
            <p:ph idx="1"/>
          </p:nvPr>
        </p:nvSpPr>
        <p:spPr>
          <a:xfrm>
            <a:off x="676656" y="1091381"/>
            <a:ext cx="10753725" cy="5633883"/>
          </a:xfrm>
        </p:spPr>
        <p:txBody>
          <a:bodyPr>
            <a:normAutofit/>
          </a:bodyPr>
          <a:lstStyle/>
          <a:p>
            <a:pPr algn="just">
              <a:lnSpc>
                <a:spcPct val="150000"/>
              </a:lnSpc>
            </a:pPr>
            <a:r>
              <a:rPr lang="en-US" dirty="0">
                <a:latin typeface="Times New Roman" panose="02020603050405020304" pitchFamily="18" charset="0"/>
                <a:cs typeface="Times New Roman" panose="02020603050405020304" pitchFamily="18" charset="0"/>
              </a:rPr>
              <a:t>Feistel proposed [FEIS73] that we can approximate the ideal block cipher by utilizing the concept of a product cipher, which is the execution of two or more simple ciphers in sequence in such a way that the final result or product is cryptographically stronger than any of the component ciphers. </a:t>
            </a:r>
          </a:p>
          <a:p>
            <a:pPr algn="just">
              <a:lnSpc>
                <a:spcPct val="150000"/>
              </a:lnSpc>
            </a:pPr>
            <a:r>
              <a:rPr lang="en-US" dirty="0">
                <a:latin typeface="Times New Roman" panose="02020603050405020304" pitchFamily="18" charset="0"/>
                <a:cs typeface="Times New Roman" panose="02020603050405020304" pitchFamily="18" charset="0"/>
              </a:rPr>
              <a:t>The essence of the approach is to develop a block cipher with a key length of k bits and a block length of n bits, allowing a total of 2k possible transformations, rather than the 2 power n! transformations available with the ideal block cipher. </a:t>
            </a:r>
          </a:p>
        </p:txBody>
      </p:sp>
    </p:spTree>
    <p:extLst>
      <p:ext uri="{BB962C8B-B14F-4D97-AF65-F5344CB8AC3E}">
        <p14:creationId xmlns:p14="http://schemas.microsoft.com/office/powerpoint/2010/main" val="333329208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33D68D-A72D-55AE-BDA3-2DD0562D96D6}"/>
              </a:ext>
            </a:extLst>
          </p:cNvPr>
          <p:cNvSpPr>
            <a:spLocks noGrp="1"/>
          </p:cNvSpPr>
          <p:nvPr>
            <p:ph type="title"/>
          </p:nvPr>
        </p:nvSpPr>
        <p:spPr>
          <a:xfrm>
            <a:off x="709612" y="273391"/>
            <a:ext cx="10772775" cy="660673"/>
          </a:xfrm>
        </p:spPr>
        <p:txBody>
          <a:bodyPr>
            <a:normAutofit fontScale="90000"/>
          </a:bodyPr>
          <a:lstStyle/>
          <a:p>
            <a:endParaRPr lang="en-IN" dirty="0"/>
          </a:p>
        </p:txBody>
      </p:sp>
      <p:sp>
        <p:nvSpPr>
          <p:cNvPr id="3" name="Content Placeholder 2">
            <a:extLst>
              <a:ext uri="{FF2B5EF4-FFF2-40B4-BE49-F238E27FC236}">
                <a16:creationId xmlns:a16="http://schemas.microsoft.com/office/drawing/2014/main" id="{8711DEF3-5C74-D916-6119-C462FB467FF0}"/>
              </a:ext>
            </a:extLst>
          </p:cNvPr>
          <p:cNvSpPr>
            <a:spLocks noGrp="1"/>
          </p:cNvSpPr>
          <p:nvPr>
            <p:ph idx="1"/>
          </p:nvPr>
        </p:nvSpPr>
        <p:spPr>
          <a:xfrm>
            <a:off x="676656" y="1307690"/>
            <a:ext cx="10753725" cy="5276919"/>
          </a:xfrm>
        </p:spPr>
        <p:txBody>
          <a:bodyPr>
            <a:normAutofit lnSpcReduction="10000"/>
          </a:bodyPr>
          <a:lstStyle/>
          <a:p>
            <a:pPr algn="just">
              <a:lnSpc>
                <a:spcPct val="150000"/>
              </a:lnSpc>
            </a:pPr>
            <a:r>
              <a:rPr lang="en-US" sz="2800" dirty="0">
                <a:latin typeface="Times New Roman" panose="02020603050405020304" pitchFamily="18" charset="0"/>
                <a:cs typeface="Times New Roman" panose="02020603050405020304" pitchFamily="18" charset="0"/>
              </a:rPr>
              <a:t>In particular, Feistel proposed the use of a cipher that alternates substitutions and permutations, where these terms are defined as follows:</a:t>
            </a:r>
            <a:endParaRPr lang="en-IN" sz="2800" dirty="0">
              <a:latin typeface="Times New Roman" panose="02020603050405020304" pitchFamily="18" charset="0"/>
              <a:cs typeface="Times New Roman" panose="02020603050405020304" pitchFamily="18" charset="0"/>
            </a:endParaRPr>
          </a:p>
          <a:p>
            <a:pPr marL="457200" indent="-457200" algn="just">
              <a:lnSpc>
                <a:spcPct val="150000"/>
              </a:lnSpc>
              <a:buFont typeface="+mj-lt"/>
              <a:buAutoNum type="arabicPeriod"/>
            </a:pPr>
            <a:r>
              <a:rPr lang="en-US" sz="2800" dirty="0">
                <a:latin typeface="Times New Roman" panose="02020603050405020304" pitchFamily="18" charset="0"/>
                <a:cs typeface="Times New Roman" panose="02020603050405020304" pitchFamily="18" charset="0"/>
              </a:rPr>
              <a:t>Substitution: Each plaintext element or group of elements is uniquely replaced by a corresponding ciphertext element or group of elements. </a:t>
            </a:r>
          </a:p>
          <a:p>
            <a:pPr marL="457200" indent="-457200" algn="just">
              <a:lnSpc>
                <a:spcPct val="150000"/>
              </a:lnSpc>
              <a:buFont typeface="+mj-lt"/>
              <a:buAutoNum type="arabicPeriod"/>
            </a:pPr>
            <a:r>
              <a:rPr lang="en-US" sz="2800" dirty="0">
                <a:latin typeface="Times New Roman" panose="02020603050405020304" pitchFamily="18" charset="0"/>
                <a:cs typeface="Times New Roman" panose="02020603050405020304" pitchFamily="18" charset="0"/>
              </a:rPr>
              <a:t>Permutation: A sequence of plaintext elements is replaced by a permutation of that sequence. That is, no elements are added or deleted or replaced in the sequence, rather the order in which the elements appear in the sequence is changed. </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4831475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DA9F7-D686-D995-24C5-772F89B3697E}"/>
              </a:ext>
            </a:extLst>
          </p:cNvPr>
          <p:cNvSpPr>
            <a:spLocks noGrp="1"/>
          </p:cNvSpPr>
          <p:nvPr>
            <p:ph type="title"/>
          </p:nvPr>
        </p:nvSpPr>
        <p:spPr>
          <a:xfrm>
            <a:off x="667130" y="142568"/>
            <a:ext cx="10772775" cy="729499"/>
          </a:xfrm>
        </p:spPr>
        <p:txBody>
          <a:bodyPr>
            <a:normAutofit fontScale="90000"/>
          </a:bodyPr>
          <a:lstStyle/>
          <a:p>
            <a:r>
              <a:rPr lang="en-US" dirty="0"/>
              <a:t>Diffusion and Confusion</a:t>
            </a:r>
            <a:endParaRPr lang="en-IN" dirty="0"/>
          </a:p>
        </p:txBody>
      </p:sp>
      <p:sp>
        <p:nvSpPr>
          <p:cNvPr id="3" name="Content Placeholder 2">
            <a:extLst>
              <a:ext uri="{FF2B5EF4-FFF2-40B4-BE49-F238E27FC236}">
                <a16:creationId xmlns:a16="http://schemas.microsoft.com/office/drawing/2014/main" id="{ADE567AD-B8CD-2DE8-BAE4-7D98C7F5F148}"/>
              </a:ext>
            </a:extLst>
          </p:cNvPr>
          <p:cNvSpPr>
            <a:spLocks noGrp="1"/>
          </p:cNvSpPr>
          <p:nvPr>
            <p:ph idx="1"/>
          </p:nvPr>
        </p:nvSpPr>
        <p:spPr>
          <a:xfrm>
            <a:off x="676656" y="872067"/>
            <a:ext cx="10753725" cy="5843365"/>
          </a:xfrm>
        </p:spPr>
        <p:txBody>
          <a:bodyPr>
            <a:normAutofit fontScale="92500"/>
          </a:bodyPr>
          <a:lstStyle/>
          <a:p>
            <a:pPr algn="just">
              <a:lnSpc>
                <a:spcPct val="150000"/>
              </a:lnSpc>
            </a:pPr>
            <a:r>
              <a:rPr lang="en-US" dirty="0">
                <a:latin typeface="Times New Roman" panose="02020603050405020304" pitchFamily="18" charset="0"/>
                <a:cs typeface="Times New Roman" panose="02020603050405020304" pitchFamily="18" charset="0"/>
              </a:rPr>
              <a:t>The terms diffusion and confusion were introduced by Claude Shannon to capture the two basic building blocks for any cryptographic system [SHAN49]. Shannon’s concern was to thwart cryptanalysis based on statistical analysis. The reasoning is as follows. Assume the attacker has some knowledge of the statistical characteristics of the plaintext. </a:t>
            </a:r>
          </a:p>
          <a:p>
            <a:pPr algn="just">
              <a:lnSpc>
                <a:spcPct val="150000"/>
              </a:lnSpc>
            </a:pPr>
            <a:r>
              <a:rPr lang="en-US" dirty="0">
                <a:latin typeface="Times New Roman" panose="02020603050405020304" pitchFamily="18" charset="0"/>
                <a:cs typeface="Times New Roman" panose="02020603050405020304" pitchFamily="18" charset="0"/>
              </a:rPr>
              <a:t>In diffusion, the statistical structure of the plaintext is dissipated into long-range statistics of the ciphertext. This is achieved by having each plaintext digit affect the value of many ciphertext digits; generally, this is equivalent to having each ciphertext digit be affected by many plaintext digits. </a:t>
            </a:r>
          </a:p>
          <a:p>
            <a:pPr algn="just">
              <a:lnSpc>
                <a:spcPct val="150000"/>
              </a:lnSpc>
            </a:pPr>
            <a:r>
              <a:rPr lang="en-US" dirty="0">
                <a:latin typeface="Times New Roman" panose="02020603050405020304" pitchFamily="18" charset="0"/>
                <a:cs typeface="Times New Roman" panose="02020603050405020304" pitchFamily="18" charset="0"/>
              </a:rPr>
              <a:t>An example of diffusion is to encrypt a message M = m1, m2, m3, c of characters with an averaging operation: </a:t>
            </a: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5B152F3D-49CC-98FA-AAF8-921D481FB9F4}"/>
              </a:ext>
            </a:extLst>
          </p:cNvPr>
          <p:cNvPicPr>
            <a:picLocks noChangeAspect="1"/>
          </p:cNvPicPr>
          <p:nvPr/>
        </p:nvPicPr>
        <p:blipFill>
          <a:blip r:embed="rId2"/>
          <a:stretch>
            <a:fillRect/>
          </a:stretch>
        </p:blipFill>
        <p:spPr>
          <a:xfrm>
            <a:off x="4599961" y="5991532"/>
            <a:ext cx="2343150" cy="723900"/>
          </a:xfrm>
          <a:prstGeom prst="rect">
            <a:avLst/>
          </a:prstGeom>
        </p:spPr>
      </p:pic>
    </p:spTree>
    <p:extLst>
      <p:ext uri="{BB962C8B-B14F-4D97-AF65-F5344CB8AC3E}">
        <p14:creationId xmlns:p14="http://schemas.microsoft.com/office/powerpoint/2010/main" val="226785517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34BB97-9EEB-8F46-7FC4-4FBBAD9392BC}"/>
              </a:ext>
            </a:extLst>
          </p:cNvPr>
          <p:cNvSpPr>
            <a:spLocks noGrp="1"/>
          </p:cNvSpPr>
          <p:nvPr>
            <p:ph type="title"/>
          </p:nvPr>
        </p:nvSpPr>
        <p:spPr>
          <a:xfrm>
            <a:off x="676274" y="243894"/>
            <a:ext cx="10772775" cy="580602"/>
          </a:xfrm>
        </p:spPr>
        <p:txBody>
          <a:bodyPr>
            <a:normAutofit fontScale="90000"/>
          </a:bodyPr>
          <a:lstStyle/>
          <a:p>
            <a:r>
              <a:rPr lang="en-US" dirty="0"/>
              <a:t>Contd..</a:t>
            </a:r>
            <a:endParaRPr lang="en-IN" dirty="0"/>
          </a:p>
        </p:txBody>
      </p:sp>
      <p:sp>
        <p:nvSpPr>
          <p:cNvPr id="3" name="Content Placeholder 2">
            <a:extLst>
              <a:ext uri="{FF2B5EF4-FFF2-40B4-BE49-F238E27FC236}">
                <a16:creationId xmlns:a16="http://schemas.microsoft.com/office/drawing/2014/main" id="{13026DF6-AF34-25E3-E462-3E8AE5881FDE}"/>
              </a:ext>
            </a:extLst>
          </p:cNvPr>
          <p:cNvSpPr>
            <a:spLocks noGrp="1"/>
          </p:cNvSpPr>
          <p:nvPr>
            <p:ph idx="1"/>
          </p:nvPr>
        </p:nvSpPr>
        <p:spPr>
          <a:xfrm>
            <a:off x="676656" y="824496"/>
            <a:ext cx="10753725" cy="5664794"/>
          </a:xfrm>
        </p:spPr>
        <p:txBody>
          <a:bodyPr/>
          <a:lstStyle/>
          <a:p>
            <a:pPr algn="just">
              <a:lnSpc>
                <a:spcPct val="150000"/>
              </a:lnSpc>
            </a:pPr>
            <a:r>
              <a:rPr lang="en-US" dirty="0">
                <a:latin typeface="Times New Roman" panose="02020603050405020304" pitchFamily="18" charset="0"/>
                <a:cs typeface="Times New Roman" panose="02020603050405020304" pitchFamily="18" charset="0"/>
              </a:rPr>
              <a:t>Confusion seeks to make the relationship between the statistics of the ciphertext and the value of the encryption key as complex as possible, again to thwart attempts to discover the key. </a:t>
            </a:r>
          </a:p>
          <a:p>
            <a:pPr algn="just">
              <a:lnSpc>
                <a:spcPct val="150000"/>
              </a:lnSpc>
            </a:pPr>
            <a:r>
              <a:rPr lang="en-US" dirty="0">
                <a:latin typeface="Times New Roman" panose="02020603050405020304" pitchFamily="18" charset="0"/>
                <a:cs typeface="Times New Roman" panose="02020603050405020304" pitchFamily="18" charset="0"/>
              </a:rPr>
              <a:t>Thus, even if the attacker can get some handle on the statistics of the ciphertext, the way in which the key was used to produce that ciphertext is so complex as to make it difficult to deduce the key. </a:t>
            </a:r>
          </a:p>
          <a:p>
            <a:pPr algn="just">
              <a:lnSpc>
                <a:spcPct val="150000"/>
              </a:lnSpc>
            </a:pPr>
            <a:r>
              <a:rPr lang="en-US" dirty="0">
                <a:latin typeface="Times New Roman" panose="02020603050405020304" pitchFamily="18" charset="0"/>
                <a:cs typeface="Times New Roman" panose="02020603050405020304" pitchFamily="18" charset="0"/>
              </a:rPr>
              <a:t>This is achieved by the use of a complex substitution algorithm. In contrast, a simple linear substitution function would add little confusion.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2713048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E28B4-4A2B-92B2-3E27-B75A08FC9F10}"/>
              </a:ext>
            </a:extLst>
          </p:cNvPr>
          <p:cNvSpPr>
            <a:spLocks noGrp="1"/>
          </p:cNvSpPr>
          <p:nvPr>
            <p:ph type="title"/>
          </p:nvPr>
        </p:nvSpPr>
        <p:spPr>
          <a:xfrm>
            <a:off x="657606" y="312720"/>
            <a:ext cx="10772775" cy="580602"/>
          </a:xfrm>
        </p:spPr>
        <p:txBody>
          <a:bodyPr>
            <a:normAutofit fontScale="90000"/>
          </a:bodyPr>
          <a:lstStyle/>
          <a:p>
            <a:r>
              <a:rPr lang="en-US" dirty="0"/>
              <a:t>Substitution &amp; Permutation</a:t>
            </a:r>
            <a:endParaRPr lang="en-IN" dirty="0"/>
          </a:p>
        </p:txBody>
      </p:sp>
      <p:sp>
        <p:nvSpPr>
          <p:cNvPr id="3" name="Content Placeholder 2">
            <a:extLst>
              <a:ext uri="{FF2B5EF4-FFF2-40B4-BE49-F238E27FC236}">
                <a16:creationId xmlns:a16="http://schemas.microsoft.com/office/drawing/2014/main" id="{741DF362-7B54-86AB-6AB7-5D28996676BC}"/>
              </a:ext>
            </a:extLst>
          </p:cNvPr>
          <p:cNvSpPr>
            <a:spLocks noGrp="1"/>
          </p:cNvSpPr>
          <p:nvPr>
            <p:ph idx="1"/>
          </p:nvPr>
        </p:nvSpPr>
        <p:spPr>
          <a:xfrm>
            <a:off x="676656" y="1081548"/>
            <a:ext cx="10753725" cy="5463732"/>
          </a:xfrm>
        </p:spPr>
        <p:txBody>
          <a:bodyPr>
            <a:normAutofit fontScale="92500"/>
          </a:bodyPr>
          <a:lstStyle/>
          <a:p>
            <a:pPr algn="just">
              <a:lnSpc>
                <a:spcPct val="150000"/>
              </a:lnSpc>
            </a:pPr>
            <a:r>
              <a:rPr lang="en-US" dirty="0">
                <a:latin typeface="Times New Roman" panose="02020603050405020304" pitchFamily="18" charset="0"/>
                <a:cs typeface="Times New Roman" panose="02020603050405020304" pitchFamily="18" charset="0"/>
              </a:rPr>
              <a:t>A substitution is performed on the left half of the data. This is done by applying a round function F to the right half of the data and then taking the exclusive-OR of the output of that function and the left half of the data. </a:t>
            </a:r>
          </a:p>
          <a:p>
            <a:pPr algn="just">
              <a:lnSpc>
                <a:spcPct val="150000"/>
              </a:lnSpc>
            </a:pPr>
            <a:r>
              <a:rPr lang="en-US" dirty="0">
                <a:latin typeface="Times New Roman" panose="02020603050405020304" pitchFamily="18" charset="0"/>
                <a:cs typeface="Times New Roman" panose="02020603050405020304" pitchFamily="18" charset="0"/>
              </a:rPr>
              <a:t>The round function has the same general structure for each round but is parameterized by the round subkey Ki. Another way to express this is to say that F is a function of right-half block of w bits and a subkey of y bits, which produces an output value of length w bits: F(</a:t>
            </a:r>
            <a:r>
              <a:rPr lang="en-US" dirty="0" err="1">
                <a:latin typeface="Times New Roman" panose="02020603050405020304" pitchFamily="18" charset="0"/>
                <a:cs typeface="Times New Roman" panose="02020603050405020304" pitchFamily="18" charset="0"/>
              </a:rPr>
              <a:t>REi</a:t>
            </a:r>
            <a:r>
              <a:rPr lang="en-US" dirty="0">
                <a:latin typeface="Times New Roman" panose="02020603050405020304" pitchFamily="18" charset="0"/>
                <a:cs typeface="Times New Roman" panose="02020603050405020304" pitchFamily="18" charset="0"/>
              </a:rPr>
              <a:t>, Ki+1). </a:t>
            </a:r>
          </a:p>
          <a:p>
            <a:pPr algn="just">
              <a:lnSpc>
                <a:spcPct val="150000"/>
              </a:lnSpc>
            </a:pPr>
            <a:r>
              <a:rPr lang="en-US" dirty="0">
                <a:latin typeface="Times New Roman" panose="02020603050405020304" pitchFamily="18" charset="0"/>
                <a:cs typeface="Times New Roman" panose="02020603050405020304" pitchFamily="18" charset="0"/>
              </a:rPr>
              <a:t>Following this substitution, a permutation is performed that consists of the interchange of the two halves of the data.6 This structure is a particular form of the substitution-permutation network (SPN) proposed by Shannon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102836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151935-D1A2-C029-6B46-0D0013331141}"/>
              </a:ext>
            </a:extLst>
          </p:cNvPr>
          <p:cNvSpPr>
            <a:spLocks noGrp="1"/>
          </p:cNvSpPr>
          <p:nvPr>
            <p:ph type="title"/>
          </p:nvPr>
        </p:nvSpPr>
        <p:spPr>
          <a:xfrm>
            <a:off x="647392" y="263558"/>
            <a:ext cx="11190647" cy="650841"/>
          </a:xfrm>
        </p:spPr>
        <p:txBody>
          <a:bodyPr>
            <a:normAutofit fontScale="90000"/>
          </a:bodyPr>
          <a:lstStyle/>
          <a:p>
            <a:r>
              <a:rPr lang="en-US" dirty="0"/>
              <a:t>Feistel Encryption and Decryption (16 rounds)</a:t>
            </a:r>
            <a:endParaRPr lang="en-IN" dirty="0"/>
          </a:p>
        </p:txBody>
      </p:sp>
      <p:pic>
        <p:nvPicPr>
          <p:cNvPr id="5" name="Content Placeholder 4">
            <a:extLst>
              <a:ext uri="{FF2B5EF4-FFF2-40B4-BE49-F238E27FC236}">
                <a16:creationId xmlns:a16="http://schemas.microsoft.com/office/drawing/2014/main" id="{2FB98862-EFBA-6492-8546-27632364BC53}"/>
              </a:ext>
            </a:extLst>
          </p:cNvPr>
          <p:cNvPicPr>
            <a:picLocks noGrp="1" noChangeAspect="1"/>
          </p:cNvPicPr>
          <p:nvPr>
            <p:ph idx="1"/>
          </p:nvPr>
        </p:nvPicPr>
        <p:blipFill>
          <a:blip r:embed="rId2"/>
          <a:stretch>
            <a:fillRect/>
          </a:stretch>
        </p:blipFill>
        <p:spPr>
          <a:xfrm>
            <a:off x="2497394" y="914398"/>
            <a:ext cx="6912077" cy="5680043"/>
          </a:xfrm>
        </p:spPr>
      </p:pic>
    </p:spTree>
    <p:extLst>
      <p:ext uri="{BB962C8B-B14F-4D97-AF65-F5344CB8AC3E}">
        <p14:creationId xmlns:p14="http://schemas.microsoft.com/office/powerpoint/2010/main" val="148846923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74EE42-B00B-25C4-5DF8-F919E224011A}"/>
              </a:ext>
            </a:extLst>
          </p:cNvPr>
          <p:cNvSpPr>
            <a:spLocks noGrp="1"/>
          </p:cNvSpPr>
          <p:nvPr>
            <p:ph type="title"/>
          </p:nvPr>
        </p:nvSpPr>
        <p:spPr>
          <a:xfrm>
            <a:off x="628109" y="96411"/>
            <a:ext cx="11406575" cy="572184"/>
          </a:xfrm>
        </p:spPr>
        <p:txBody>
          <a:bodyPr>
            <a:noAutofit/>
          </a:bodyPr>
          <a:lstStyle/>
          <a:p>
            <a:r>
              <a:rPr lang="en-US" sz="3200" dirty="0"/>
              <a:t>Data Encryption Standard-</a:t>
            </a:r>
            <a:r>
              <a:rPr lang="en-IN" sz="3200" dirty="0"/>
              <a:t>General Depiction of DES Encryption Algorithm</a:t>
            </a:r>
            <a:r>
              <a:rPr lang="en-US" sz="3200" dirty="0"/>
              <a:t> </a:t>
            </a:r>
            <a:endParaRPr lang="en-IN" sz="3200" dirty="0"/>
          </a:p>
        </p:txBody>
      </p:sp>
      <p:pic>
        <p:nvPicPr>
          <p:cNvPr id="5" name="Content Placeholder 4">
            <a:extLst>
              <a:ext uri="{FF2B5EF4-FFF2-40B4-BE49-F238E27FC236}">
                <a16:creationId xmlns:a16="http://schemas.microsoft.com/office/drawing/2014/main" id="{48EC9D2B-2B5F-955E-BF60-D0E6EB33288D}"/>
              </a:ext>
            </a:extLst>
          </p:cNvPr>
          <p:cNvPicPr>
            <a:picLocks noGrp="1" noChangeAspect="1"/>
          </p:cNvPicPr>
          <p:nvPr>
            <p:ph idx="1"/>
          </p:nvPr>
        </p:nvPicPr>
        <p:blipFill>
          <a:blip r:embed="rId2"/>
          <a:stretch>
            <a:fillRect/>
          </a:stretch>
        </p:blipFill>
        <p:spPr>
          <a:xfrm>
            <a:off x="2635045" y="668595"/>
            <a:ext cx="6617109" cy="5987844"/>
          </a:xfrm>
        </p:spPr>
      </p:pic>
    </p:spTree>
    <p:extLst>
      <p:ext uri="{BB962C8B-B14F-4D97-AF65-F5344CB8AC3E}">
        <p14:creationId xmlns:p14="http://schemas.microsoft.com/office/powerpoint/2010/main" val="301348502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A06F7-CC02-60AB-7F89-FC84DC2E71F4}"/>
              </a:ext>
            </a:extLst>
          </p:cNvPr>
          <p:cNvSpPr>
            <a:spLocks noGrp="1"/>
          </p:cNvSpPr>
          <p:nvPr>
            <p:ph type="title"/>
          </p:nvPr>
        </p:nvSpPr>
        <p:spPr>
          <a:xfrm>
            <a:off x="657606" y="175069"/>
            <a:ext cx="10772775" cy="365706"/>
          </a:xfrm>
        </p:spPr>
        <p:txBody>
          <a:bodyPr>
            <a:noAutofit/>
          </a:bodyPr>
          <a:lstStyle/>
          <a:p>
            <a:r>
              <a:rPr lang="en-US" sz="3600" dirty="0"/>
              <a:t>Example</a:t>
            </a:r>
            <a:endParaRPr lang="en-IN" sz="3600" dirty="0"/>
          </a:p>
        </p:txBody>
      </p:sp>
      <p:sp>
        <p:nvSpPr>
          <p:cNvPr id="3" name="Content Placeholder 2">
            <a:extLst>
              <a:ext uri="{FF2B5EF4-FFF2-40B4-BE49-F238E27FC236}">
                <a16:creationId xmlns:a16="http://schemas.microsoft.com/office/drawing/2014/main" id="{216939E4-38D8-0057-B3DB-388C2A27A382}"/>
              </a:ext>
            </a:extLst>
          </p:cNvPr>
          <p:cNvSpPr>
            <a:spLocks noGrp="1"/>
          </p:cNvSpPr>
          <p:nvPr>
            <p:ph idx="1"/>
          </p:nvPr>
        </p:nvSpPr>
        <p:spPr>
          <a:xfrm>
            <a:off x="676656" y="688258"/>
            <a:ext cx="10753725" cy="5810865"/>
          </a:xfrm>
        </p:spPr>
        <p:txBody>
          <a:bodyPr>
            <a:normAutofit/>
          </a:bodyPr>
          <a:lstStyle/>
          <a:p>
            <a:pPr algn="just">
              <a:lnSpc>
                <a:spcPct val="150000"/>
              </a:lnSpc>
            </a:pPr>
            <a:r>
              <a:rPr lang="en-US" sz="2000" dirty="0">
                <a:latin typeface="Times New Roman" panose="02020603050405020304" pitchFamily="18" charset="0"/>
                <a:cs typeface="Times New Roman" panose="02020603050405020304" pitchFamily="18" charset="0"/>
              </a:rPr>
              <a:t>For this example, the plaintext is a hexadecimal palindrome. The plaintext, key, and resulting ciphertext are as follows</a:t>
            </a:r>
            <a:endParaRPr lang="en-IN" sz="20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1F6A2684-7476-AD27-9FF6-C85D54BD37F8}"/>
              </a:ext>
            </a:extLst>
          </p:cNvPr>
          <p:cNvPicPr>
            <a:picLocks noChangeAspect="1"/>
          </p:cNvPicPr>
          <p:nvPr/>
        </p:nvPicPr>
        <p:blipFill>
          <a:blip r:embed="rId2"/>
          <a:stretch>
            <a:fillRect/>
          </a:stretch>
        </p:blipFill>
        <p:spPr>
          <a:xfrm>
            <a:off x="1728173" y="1622324"/>
            <a:ext cx="9126640" cy="5024282"/>
          </a:xfrm>
          <a:prstGeom prst="rect">
            <a:avLst/>
          </a:prstGeom>
        </p:spPr>
      </p:pic>
    </p:spTree>
    <p:extLst>
      <p:ext uri="{BB962C8B-B14F-4D97-AF65-F5344CB8AC3E}">
        <p14:creationId xmlns:p14="http://schemas.microsoft.com/office/powerpoint/2010/main" val="336919383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EDD64B-C07B-95C3-6979-1A221C66C5F1}"/>
              </a:ext>
            </a:extLst>
          </p:cNvPr>
          <p:cNvSpPr>
            <a:spLocks noGrp="1"/>
          </p:cNvSpPr>
          <p:nvPr>
            <p:ph type="title"/>
          </p:nvPr>
        </p:nvSpPr>
        <p:spPr>
          <a:xfrm>
            <a:off x="657224" y="147485"/>
            <a:ext cx="10772775" cy="471948"/>
          </a:xfrm>
        </p:spPr>
        <p:txBody>
          <a:bodyPr>
            <a:normAutofit fontScale="90000"/>
          </a:bodyPr>
          <a:lstStyle/>
          <a:p>
            <a:br>
              <a:rPr lang="en-US" sz="4900" b="1" dirty="0"/>
            </a:br>
            <a:r>
              <a:rPr lang="en-US" sz="4900" b="1" dirty="0"/>
              <a:t>Strength of DES</a:t>
            </a:r>
            <a:br>
              <a:rPr lang="en-US" b="1" dirty="0"/>
            </a:br>
            <a:endParaRPr lang="en-IN" dirty="0"/>
          </a:p>
        </p:txBody>
      </p:sp>
      <p:sp>
        <p:nvSpPr>
          <p:cNvPr id="3" name="Content Placeholder 2">
            <a:extLst>
              <a:ext uri="{FF2B5EF4-FFF2-40B4-BE49-F238E27FC236}">
                <a16:creationId xmlns:a16="http://schemas.microsoft.com/office/drawing/2014/main" id="{949FD069-5D49-3074-2C89-1E2FC24A162F}"/>
              </a:ext>
            </a:extLst>
          </p:cNvPr>
          <p:cNvSpPr>
            <a:spLocks noGrp="1"/>
          </p:cNvSpPr>
          <p:nvPr>
            <p:ph idx="1"/>
          </p:nvPr>
        </p:nvSpPr>
        <p:spPr>
          <a:xfrm>
            <a:off x="540774" y="737419"/>
            <a:ext cx="10889607" cy="5860025"/>
          </a:xfrm>
        </p:spPr>
        <p:txBody>
          <a:bodyPr>
            <a:normAutofit/>
          </a:bodyPr>
          <a:lstStyle/>
          <a:p>
            <a:pPr>
              <a:buFont typeface="+mj-lt"/>
              <a:buAutoNum type="arabicPeriod"/>
            </a:pPr>
            <a:r>
              <a:rPr lang="en-US" sz="1800" b="1" dirty="0">
                <a:latin typeface="Times New Roman" panose="02020603050405020304" pitchFamily="18" charset="0"/>
                <a:cs typeface="Times New Roman" panose="02020603050405020304" pitchFamily="18" charset="0"/>
              </a:rPr>
              <a:t>Key Size and Security</a:t>
            </a:r>
            <a:endParaRPr lang="en-US" sz="1800" dirty="0">
              <a:latin typeface="Times New Roman" panose="02020603050405020304" pitchFamily="18" charset="0"/>
              <a:cs typeface="Times New Roman" panose="02020603050405020304" pitchFamily="18" charset="0"/>
            </a:endParaRPr>
          </a:p>
          <a:p>
            <a:pPr marL="742950" lvl="1" indent="-285750">
              <a:buFont typeface="+mj-lt"/>
              <a:buAutoNum type="arabicPeriod"/>
            </a:pPr>
            <a:r>
              <a:rPr lang="en-US" sz="1800" dirty="0">
                <a:latin typeface="Times New Roman" panose="02020603050405020304" pitchFamily="18" charset="0"/>
                <a:cs typeface="Times New Roman" panose="02020603050405020304" pitchFamily="18" charset="0"/>
              </a:rPr>
              <a:t>DES uses a </a:t>
            </a:r>
            <a:r>
              <a:rPr lang="en-US" sz="1800" b="1" dirty="0">
                <a:latin typeface="Times New Roman" panose="02020603050405020304" pitchFamily="18" charset="0"/>
                <a:cs typeface="Times New Roman" panose="02020603050405020304" pitchFamily="18" charset="0"/>
              </a:rPr>
              <a:t>56-bit key</a:t>
            </a:r>
            <a:r>
              <a:rPr lang="en-US" sz="1800" dirty="0">
                <a:latin typeface="Times New Roman" panose="02020603050405020304" pitchFamily="18" charset="0"/>
                <a:cs typeface="Times New Roman" panose="02020603050405020304" pitchFamily="18" charset="0"/>
              </a:rPr>
              <a:t>, which was secure when introduced in the 1970s.</a:t>
            </a:r>
          </a:p>
          <a:p>
            <a:pPr marL="742950" lvl="1" indent="-285750">
              <a:buFont typeface="+mj-lt"/>
              <a:buAutoNum type="arabicPeriod"/>
            </a:pPr>
            <a:r>
              <a:rPr lang="en-US" sz="1800" dirty="0">
                <a:latin typeface="Times New Roman" panose="02020603050405020304" pitchFamily="18" charset="0"/>
                <a:cs typeface="Times New Roman" panose="02020603050405020304" pitchFamily="18" charset="0"/>
              </a:rPr>
              <a:t>With modern computing power, </a:t>
            </a:r>
            <a:r>
              <a:rPr lang="en-US" sz="1800" b="1" dirty="0">
                <a:latin typeface="Times New Roman" panose="02020603050405020304" pitchFamily="18" charset="0"/>
                <a:cs typeface="Times New Roman" panose="02020603050405020304" pitchFamily="18" charset="0"/>
              </a:rPr>
              <a:t>brute-force attacks</a:t>
            </a:r>
            <a:r>
              <a:rPr lang="en-US" sz="1800" dirty="0">
                <a:latin typeface="Times New Roman" panose="02020603050405020304" pitchFamily="18" charset="0"/>
                <a:cs typeface="Times New Roman" panose="02020603050405020304" pitchFamily="18" charset="0"/>
              </a:rPr>
              <a:t> can try all 2562^{56}256 possible keys in feasible time, making it vulnerable.</a:t>
            </a:r>
          </a:p>
          <a:p>
            <a:pPr>
              <a:buFont typeface="+mj-lt"/>
              <a:buAutoNum type="arabicPeriod"/>
            </a:pPr>
            <a:r>
              <a:rPr lang="en-US" sz="1800" b="1" dirty="0">
                <a:latin typeface="Times New Roman" panose="02020603050405020304" pitchFamily="18" charset="0"/>
                <a:cs typeface="Times New Roman" panose="02020603050405020304" pitchFamily="18" charset="0"/>
              </a:rPr>
              <a:t>Avalanche Effect</a:t>
            </a:r>
            <a:endParaRPr lang="en-US" sz="1800" dirty="0">
              <a:latin typeface="Times New Roman" panose="02020603050405020304" pitchFamily="18" charset="0"/>
              <a:cs typeface="Times New Roman" panose="02020603050405020304" pitchFamily="18" charset="0"/>
            </a:endParaRPr>
          </a:p>
          <a:p>
            <a:pPr marL="742950" lvl="1" indent="-285750">
              <a:buFont typeface="+mj-lt"/>
              <a:buAutoNum type="arabicPeriod"/>
            </a:pPr>
            <a:r>
              <a:rPr lang="en-US" sz="1800" dirty="0">
                <a:latin typeface="Times New Roman" panose="02020603050405020304" pitchFamily="18" charset="0"/>
                <a:cs typeface="Times New Roman" panose="02020603050405020304" pitchFamily="18" charset="0"/>
              </a:rPr>
              <a:t>A small change in plaintext or key results in a large change in ciphertext.</a:t>
            </a:r>
          </a:p>
          <a:p>
            <a:pPr marL="742950" lvl="1" indent="-285750">
              <a:buFont typeface="+mj-lt"/>
              <a:buAutoNum type="arabicPeriod"/>
            </a:pPr>
            <a:r>
              <a:rPr lang="en-US" sz="1800" dirty="0">
                <a:latin typeface="Times New Roman" panose="02020603050405020304" pitchFamily="18" charset="0"/>
                <a:cs typeface="Times New Roman" panose="02020603050405020304" pitchFamily="18" charset="0"/>
              </a:rPr>
              <a:t>This enhances </a:t>
            </a:r>
            <a:r>
              <a:rPr lang="en-US" sz="1800" b="1" dirty="0">
                <a:latin typeface="Times New Roman" panose="02020603050405020304" pitchFamily="18" charset="0"/>
                <a:cs typeface="Times New Roman" panose="02020603050405020304" pitchFamily="18" charset="0"/>
              </a:rPr>
              <a:t>confusion and diffusion</a:t>
            </a:r>
            <a:r>
              <a:rPr lang="en-US" sz="1800" dirty="0">
                <a:latin typeface="Times New Roman" panose="02020603050405020304" pitchFamily="18" charset="0"/>
                <a:cs typeface="Times New Roman" panose="02020603050405020304" pitchFamily="18" charset="0"/>
              </a:rPr>
              <a:t>, strengthening resistance to simple statistical attacks.</a:t>
            </a:r>
          </a:p>
          <a:p>
            <a:pPr>
              <a:buFont typeface="+mj-lt"/>
              <a:buAutoNum type="arabicPeriod"/>
            </a:pPr>
            <a:r>
              <a:rPr lang="en-US" sz="1800" b="1" dirty="0">
                <a:latin typeface="Times New Roman" panose="02020603050405020304" pitchFamily="18" charset="0"/>
                <a:cs typeface="Times New Roman" panose="02020603050405020304" pitchFamily="18" charset="0"/>
              </a:rPr>
              <a:t>Resistance to Cryptanalysis</a:t>
            </a:r>
            <a:endParaRPr lang="en-US" sz="1800" dirty="0">
              <a:latin typeface="Times New Roman" panose="02020603050405020304" pitchFamily="18" charset="0"/>
              <a:cs typeface="Times New Roman" panose="02020603050405020304" pitchFamily="18" charset="0"/>
            </a:endParaRPr>
          </a:p>
          <a:p>
            <a:pPr marL="742950" lvl="1" indent="-285750">
              <a:buFont typeface="+mj-lt"/>
              <a:buAutoNum type="arabicPeriod"/>
            </a:pPr>
            <a:r>
              <a:rPr lang="en-US" sz="1800" dirty="0">
                <a:latin typeface="Times New Roman" panose="02020603050405020304" pitchFamily="18" charset="0"/>
                <a:cs typeface="Times New Roman" panose="02020603050405020304" pitchFamily="18" charset="0"/>
              </a:rPr>
              <a:t>DES is designed to resist:</a:t>
            </a:r>
          </a:p>
          <a:p>
            <a:pPr marL="1143000" lvl="2" indent="-228600">
              <a:buFont typeface="+mj-lt"/>
              <a:buAutoNum type="arabicPeriod"/>
            </a:pPr>
            <a:r>
              <a:rPr lang="en-US" sz="1400" b="1" dirty="0">
                <a:latin typeface="Times New Roman" panose="02020603050405020304" pitchFamily="18" charset="0"/>
                <a:cs typeface="Times New Roman" panose="02020603050405020304" pitchFamily="18" charset="0"/>
              </a:rPr>
              <a:t>Differential cryptanalysis</a:t>
            </a:r>
            <a:r>
              <a:rPr lang="en-US" sz="1400" dirty="0">
                <a:latin typeface="Times New Roman" panose="02020603050405020304" pitchFamily="18" charset="0"/>
                <a:cs typeface="Times New Roman" panose="02020603050405020304" pitchFamily="18" charset="0"/>
              </a:rPr>
              <a:t> (later discovered formally, but DES was already secure against it for practical rounds).</a:t>
            </a:r>
          </a:p>
          <a:p>
            <a:pPr marL="1143000" lvl="2" indent="-228600">
              <a:buFont typeface="+mj-lt"/>
              <a:buAutoNum type="arabicPeriod"/>
            </a:pPr>
            <a:r>
              <a:rPr lang="en-US" sz="1400" b="1" dirty="0">
                <a:latin typeface="Times New Roman" panose="02020603050405020304" pitchFamily="18" charset="0"/>
                <a:cs typeface="Times New Roman" panose="02020603050405020304" pitchFamily="18" charset="0"/>
              </a:rPr>
              <a:t>Linear cryptanalysis</a:t>
            </a:r>
            <a:r>
              <a:rPr lang="en-US" sz="1400" dirty="0">
                <a:latin typeface="Times New Roman" panose="02020603050405020304" pitchFamily="18" charset="0"/>
                <a:cs typeface="Times New Roman" panose="02020603050405020304" pitchFamily="18" charset="0"/>
              </a:rPr>
              <a:t> (hard but possible with enough known plaintext-ciphertext pairs).</a:t>
            </a:r>
          </a:p>
          <a:p>
            <a:pPr marL="742950" lvl="1" indent="-285750">
              <a:buFont typeface="+mj-lt"/>
              <a:buAutoNum type="arabicPeriod"/>
            </a:pPr>
            <a:r>
              <a:rPr lang="en-US" sz="1800" dirty="0">
                <a:latin typeface="Times New Roman" panose="02020603050405020304" pitchFamily="18" charset="0"/>
                <a:cs typeface="Times New Roman" panose="02020603050405020304" pitchFamily="18" charset="0"/>
              </a:rPr>
              <a:t>Still, advances in cryptanalysis have shown that DES is </a:t>
            </a:r>
            <a:r>
              <a:rPr lang="en-US" sz="1800" b="1" dirty="0">
                <a:latin typeface="Times New Roman" panose="02020603050405020304" pitchFamily="18" charset="0"/>
                <a:cs typeface="Times New Roman" panose="02020603050405020304" pitchFamily="18" charset="0"/>
              </a:rPr>
              <a:t>not fully secure</a:t>
            </a:r>
            <a:r>
              <a:rPr lang="en-US" sz="1800" dirty="0">
                <a:latin typeface="Times New Roman" panose="02020603050405020304" pitchFamily="18" charset="0"/>
                <a:cs typeface="Times New Roman" panose="02020603050405020304" pitchFamily="18" charset="0"/>
              </a:rPr>
              <a:t> against large-scale attacks.</a:t>
            </a:r>
          </a:p>
          <a:p>
            <a:pPr>
              <a:buFont typeface="+mj-lt"/>
              <a:buAutoNum type="arabicPeriod"/>
            </a:pPr>
            <a:r>
              <a:rPr lang="en-US" sz="1800" b="1" dirty="0">
                <a:latin typeface="Times New Roman" panose="02020603050405020304" pitchFamily="18" charset="0"/>
                <a:cs typeface="Times New Roman" panose="02020603050405020304" pitchFamily="18" charset="0"/>
              </a:rPr>
              <a:t>Performance</a:t>
            </a:r>
            <a:endParaRPr lang="en-US" sz="1800" dirty="0">
              <a:latin typeface="Times New Roman" panose="02020603050405020304" pitchFamily="18" charset="0"/>
              <a:cs typeface="Times New Roman" panose="02020603050405020304" pitchFamily="18" charset="0"/>
            </a:endParaRPr>
          </a:p>
          <a:p>
            <a:pPr marL="742950" lvl="1" indent="-285750">
              <a:buFont typeface="+mj-lt"/>
              <a:buAutoNum type="arabicPeriod"/>
            </a:pPr>
            <a:r>
              <a:rPr lang="en-US" sz="1800" dirty="0">
                <a:latin typeface="Times New Roman" panose="02020603050405020304" pitchFamily="18" charset="0"/>
                <a:cs typeface="Times New Roman" panose="02020603050405020304" pitchFamily="18" charset="0"/>
              </a:rPr>
              <a:t>DES is fast in both hardware and software implementations.</a:t>
            </a:r>
          </a:p>
          <a:p>
            <a:pPr marL="742950" lvl="1" indent="-285750">
              <a:buFont typeface="+mj-lt"/>
              <a:buAutoNum type="arabicPeriod"/>
            </a:pPr>
            <a:r>
              <a:rPr lang="en-US" sz="1800" dirty="0">
                <a:latin typeface="Times New Roman" panose="02020603050405020304" pitchFamily="18" charset="0"/>
                <a:cs typeface="Times New Roman" panose="02020603050405020304" pitchFamily="18" charset="0"/>
              </a:rPr>
              <a:t>Widely used in early financial and government applications.</a:t>
            </a:r>
          </a:p>
          <a:p>
            <a:pPr>
              <a:buFont typeface="+mj-lt"/>
              <a:buAutoNum type="arabicPeriod"/>
            </a:pPr>
            <a:r>
              <a:rPr lang="en-US" sz="1800" b="1" dirty="0">
                <a:latin typeface="Times New Roman" panose="02020603050405020304" pitchFamily="18" charset="0"/>
                <a:cs typeface="Times New Roman" panose="02020603050405020304" pitchFamily="18" charset="0"/>
              </a:rPr>
              <a:t>Main Weakness</a:t>
            </a:r>
            <a:endParaRPr lang="en-US" sz="1800" dirty="0">
              <a:latin typeface="Times New Roman" panose="02020603050405020304" pitchFamily="18" charset="0"/>
              <a:cs typeface="Times New Roman" panose="02020603050405020304" pitchFamily="18" charset="0"/>
            </a:endParaRPr>
          </a:p>
          <a:p>
            <a:pPr marL="742950" lvl="1" indent="-285750">
              <a:buFont typeface="+mj-lt"/>
              <a:buAutoNum type="arabicPeriod"/>
            </a:pPr>
            <a:r>
              <a:rPr lang="en-US" sz="1800" dirty="0">
                <a:latin typeface="Times New Roman" panose="02020603050405020304" pitchFamily="18" charset="0"/>
                <a:cs typeface="Times New Roman" panose="02020603050405020304" pitchFamily="18" charset="0"/>
              </a:rPr>
              <a:t>The primary weakness is its </a:t>
            </a:r>
            <a:r>
              <a:rPr lang="en-US" sz="1800" b="1" dirty="0">
                <a:latin typeface="Times New Roman" panose="02020603050405020304" pitchFamily="18" charset="0"/>
                <a:cs typeface="Times New Roman" panose="02020603050405020304" pitchFamily="18" charset="0"/>
              </a:rPr>
              <a:t>short key length (56-bit)</a:t>
            </a:r>
            <a:r>
              <a:rPr lang="en-US" sz="1800" dirty="0">
                <a:latin typeface="Times New Roman" panose="02020603050405020304" pitchFamily="18" charset="0"/>
                <a:cs typeface="Times New Roman" panose="02020603050405020304" pitchFamily="18" charset="0"/>
              </a:rPr>
              <a:t> rather than flaws in the algorithm itself.</a:t>
            </a:r>
          </a:p>
          <a:p>
            <a:pPr marL="742950" lvl="1" indent="-285750">
              <a:buFont typeface="+mj-lt"/>
              <a:buAutoNum type="arabicPeriod"/>
            </a:pPr>
            <a:r>
              <a:rPr lang="en-US" sz="1800" dirty="0">
                <a:latin typeface="Times New Roman" panose="02020603050405020304" pitchFamily="18" charset="0"/>
                <a:cs typeface="Times New Roman" panose="02020603050405020304" pitchFamily="18" charset="0"/>
              </a:rPr>
              <a:t>This led to the development of </a:t>
            </a:r>
            <a:r>
              <a:rPr lang="en-US" sz="1800" b="1" dirty="0">
                <a:latin typeface="Times New Roman" panose="02020603050405020304" pitchFamily="18" charset="0"/>
                <a:cs typeface="Times New Roman" panose="02020603050405020304" pitchFamily="18" charset="0"/>
              </a:rPr>
              <a:t>Triple DES (3DES)</a:t>
            </a:r>
            <a:r>
              <a:rPr lang="en-US" sz="1800" dirty="0">
                <a:latin typeface="Times New Roman" panose="02020603050405020304" pitchFamily="18" charset="0"/>
                <a:cs typeface="Times New Roman" panose="02020603050405020304" pitchFamily="18" charset="0"/>
              </a:rPr>
              <a:t> and later </a:t>
            </a:r>
            <a:r>
              <a:rPr lang="en-US" sz="1800" b="1" dirty="0">
                <a:latin typeface="Times New Roman" panose="02020603050405020304" pitchFamily="18" charset="0"/>
                <a:cs typeface="Times New Roman" panose="02020603050405020304" pitchFamily="18" charset="0"/>
              </a:rPr>
              <a:t>AES</a:t>
            </a:r>
            <a:r>
              <a:rPr lang="en-US" sz="1800" dirty="0">
                <a:latin typeface="Times New Roman" panose="02020603050405020304" pitchFamily="18" charset="0"/>
                <a:cs typeface="Times New Roman" panose="02020603050405020304" pitchFamily="18" charset="0"/>
              </a:rPr>
              <a:t> as replacements.</a:t>
            </a:r>
          </a:p>
          <a:p>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7144848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7F123-4C5B-0F39-C110-B9CB2E8B6E29}"/>
              </a:ext>
            </a:extLst>
          </p:cNvPr>
          <p:cNvSpPr>
            <a:spLocks noGrp="1"/>
          </p:cNvSpPr>
          <p:nvPr>
            <p:ph type="title"/>
          </p:nvPr>
        </p:nvSpPr>
        <p:spPr>
          <a:xfrm>
            <a:off x="657224" y="499533"/>
            <a:ext cx="10772775" cy="955641"/>
          </a:xfrm>
        </p:spPr>
        <p:txBody>
          <a:bodyPr/>
          <a:lstStyle/>
          <a:p>
            <a:r>
              <a:rPr lang="en-IN" dirty="0"/>
              <a:t>Block cipher design principles </a:t>
            </a:r>
          </a:p>
        </p:txBody>
      </p:sp>
      <p:sp>
        <p:nvSpPr>
          <p:cNvPr id="4" name="Rectangle 1">
            <a:extLst>
              <a:ext uri="{FF2B5EF4-FFF2-40B4-BE49-F238E27FC236}">
                <a16:creationId xmlns:a16="http://schemas.microsoft.com/office/drawing/2014/main" id="{9F6133C3-5856-0750-6D68-9D2D72F976EA}"/>
              </a:ext>
            </a:extLst>
          </p:cNvPr>
          <p:cNvSpPr>
            <a:spLocks noGrp="1" noChangeArrowheads="1"/>
          </p:cNvSpPr>
          <p:nvPr>
            <p:ph idx="1"/>
          </p:nvPr>
        </p:nvSpPr>
        <p:spPr bwMode="auto">
          <a:xfrm>
            <a:off x="676656" y="1948344"/>
            <a:ext cx="10060170" cy="38928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Number of Rounds:</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Enough to resist known attacks, balance security vs. speed.</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Function F:</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Nonlinear, mixes substitution &amp; permutation, ensures confusion &amp; diffusion.</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Key Generation:</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Produces unique, complex subkeys; prevents related-key attacks; efficient.</a:t>
            </a:r>
          </a:p>
        </p:txBody>
      </p:sp>
    </p:spTree>
    <p:extLst>
      <p:ext uri="{BB962C8B-B14F-4D97-AF65-F5344CB8AC3E}">
        <p14:creationId xmlns:p14="http://schemas.microsoft.com/office/powerpoint/2010/main" val="281394683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8AABCA-5E9E-1FC2-0BD8-3FC6EA0E8D74}"/>
              </a:ext>
            </a:extLst>
          </p:cNvPr>
          <p:cNvSpPr>
            <a:spLocks noGrp="1"/>
          </p:cNvSpPr>
          <p:nvPr>
            <p:ph type="title"/>
          </p:nvPr>
        </p:nvSpPr>
        <p:spPr>
          <a:xfrm>
            <a:off x="657224" y="499533"/>
            <a:ext cx="10772775" cy="650841"/>
          </a:xfrm>
        </p:spPr>
        <p:txBody>
          <a:bodyPr>
            <a:normAutofit fontScale="90000"/>
          </a:bodyPr>
          <a:lstStyle/>
          <a:p>
            <a:r>
              <a:rPr lang="en-US" dirty="0"/>
              <a:t>Contd..</a:t>
            </a:r>
            <a:endParaRPr lang="en-IN" dirty="0"/>
          </a:p>
        </p:txBody>
      </p:sp>
      <p:sp>
        <p:nvSpPr>
          <p:cNvPr id="3" name="Content Placeholder 2">
            <a:extLst>
              <a:ext uri="{FF2B5EF4-FFF2-40B4-BE49-F238E27FC236}">
                <a16:creationId xmlns:a16="http://schemas.microsoft.com/office/drawing/2014/main" id="{1F4D1784-0321-C059-2B5F-789CE82865F1}"/>
              </a:ext>
            </a:extLst>
          </p:cNvPr>
          <p:cNvSpPr>
            <a:spLocks noGrp="1"/>
          </p:cNvSpPr>
          <p:nvPr>
            <p:ph idx="1"/>
          </p:nvPr>
        </p:nvSpPr>
        <p:spPr>
          <a:xfrm>
            <a:off x="676656" y="1415846"/>
            <a:ext cx="10753725" cy="4362020"/>
          </a:xfrm>
        </p:spPr>
        <p:txBody>
          <a:bodyPr/>
          <a:lstStyle/>
          <a:p>
            <a:pPr>
              <a:lnSpc>
                <a:spcPct val="150000"/>
              </a:lnSpc>
            </a:pPr>
            <a:r>
              <a:rPr lang="en-US" b="1" dirty="0">
                <a:latin typeface="Times New Roman" panose="02020603050405020304" pitchFamily="18" charset="0"/>
                <a:cs typeface="Times New Roman" panose="02020603050405020304" pitchFamily="18" charset="0"/>
              </a:rPr>
              <a:t>Confusion and Diffusion (Shannon’s Principles)</a:t>
            </a:r>
          </a:p>
          <a:p>
            <a:pPr>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Confusion</a:t>
            </a:r>
            <a:r>
              <a:rPr lang="en-US" dirty="0">
                <a:latin typeface="Times New Roman" panose="02020603050405020304" pitchFamily="18" charset="0"/>
                <a:cs typeface="Times New Roman" panose="02020603050405020304" pitchFamily="18" charset="0"/>
              </a:rPr>
              <a:t>: Makes the relationship between the key and ciphertext as complex as possible, usually achieved through </a:t>
            </a:r>
            <a:r>
              <a:rPr lang="en-US" b="1" dirty="0">
                <a:latin typeface="Times New Roman" panose="02020603050405020304" pitchFamily="18" charset="0"/>
                <a:cs typeface="Times New Roman" panose="02020603050405020304" pitchFamily="18" charset="0"/>
              </a:rPr>
              <a:t>substitution</a:t>
            </a:r>
            <a:r>
              <a:rPr lang="en-US" dirty="0">
                <a:latin typeface="Times New Roman" panose="02020603050405020304" pitchFamily="18" charset="0"/>
                <a:cs typeface="Times New Roman" panose="02020603050405020304" pitchFamily="18" charset="0"/>
              </a:rPr>
              <a:t>.</a:t>
            </a:r>
          </a:p>
          <a:p>
            <a:pPr>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Diffusion</a:t>
            </a:r>
            <a:r>
              <a:rPr lang="en-US" dirty="0">
                <a:latin typeface="Times New Roman" panose="02020603050405020304" pitchFamily="18" charset="0"/>
                <a:cs typeface="Times New Roman" panose="02020603050405020304" pitchFamily="18" charset="0"/>
              </a:rPr>
              <a:t>: Spreads the influence of each plaintext bit over many ciphertext bits, usually achieved through </a:t>
            </a:r>
            <a:r>
              <a:rPr lang="en-US" b="1" dirty="0">
                <a:latin typeface="Times New Roman" panose="02020603050405020304" pitchFamily="18" charset="0"/>
                <a:cs typeface="Times New Roman" panose="02020603050405020304" pitchFamily="18" charset="0"/>
              </a:rPr>
              <a:t>permutation</a:t>
            </a:r>
            <a:r>
              <a:rPr lang="en-US" dirty="0">
                <a:latin typeface="Times New Roman" panose="02020603050405020304" pitchFamily="18" charset="0"/>
                <a:cs typeface="Times New Roman" panose="02020603050405020304" pitchFamily="18" charset="0"/>
              </a:rPr>
              <a:t>.</a:t>
            </a:r>
          </a:p>
          <a:p>
            <a:pPr>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Together, they obscure patterns and resist statistical attacks.</a:t>
            </a:r>
          </a:p>
          <a:p>
            <a:pPr>
              <a:lnSpc>
                <a:spcPct val="150000"/>
              </a:lnSpc>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4361955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4509E0-CB01-9D32-073A-5C81B512C358}"/>
              </a:ext>
            </a:extLst>
          </p:cNvPr>
          <p:cNvSpPr>
            <a:spLocks noGrp="1"/>
          </p:cNvSpPr>
          <p:nvPr>
            <p:ph type="title"/>
          </p:nvPr>
        </p:nvSpPr>
        <p:spPr>
          <a:xfrm>
            <a:off x="657224" y="499533"/>
            <a:ext cx="10772775" cy="709835"/>
          </a:xfrm>
        </p:spPr>
        <p:txBody>
          <a:bodyPr>
            <a:normAutofit fontScale="90000"/>
          </a:bodyPr>
          <a:lstStyle/>
          <a:p>
            <a:r>
              <a:rPr lang="en-US" dirty="0"/>
              <a:t>Contd..</a:t>
            </a:r>
            <a:endParaRPr lang="en-IN" dirty="0"/>
          </a:p>
        </p:txBody>
      </p:sp>
      <p:sp>
        <p:nvSpPr>
          <p:cNvPr id="3" name="Content Placeholder 2">
            <a:extLst>
              <a:ext uri="{FF2B5EF4-FFF2-40B4-BE49-F238E27FC236}">
                <a16:creationId xmlns:a16="http://schemas.microsoft.com/office/drawing/2014/main" id="{40D81FF1-D310-0261-27A0-9420EB2C01D4}"/>
              </a:ext>
            </a:extLst>
          </p:cNvPr>
          <p:cNvSpPr>
            <a:spLocks noGrp="1"/>
          </p:cNvSpPr>
          <p:nvPr>
            <p:ph idx="1"/>
          </p:nvPr>
        </p:nvSpPr>
        <p:spPr>
          <a:xfrm>
            <a:off x="676656" y="1307690"/>
            <a:ext cx="10753725" cy="4729316"/>
          </a:xfrm>
        </p:spPr>
        <p:txBody>
          <a:bodyPr>
            <a:normAutofit/>
          </a:bodyPr>
          <a:lstStyle/>
          <a:p>
            <a:pPr>
              <a:lnSpc>
                <a:spcPct val="150000"/>
              </a:lnSpc>
            </a:pPr>
            <a:r>
              <a:rPr lang="en-US" sz="2800" b="1" dirty="0">
                <a:latin typeface="Times New Roman" panose="02020603050405020304" pitchFamily="18" charset="0"/>
                <a:cs typeface="Times New Roman" panose="02020603050405020304" pitchFamily="18" charset="0"/>
              </a:rPr>
              <a:t>Round Function Properties</a:t>
            </a:r>
          </a:p>
          <a:p>
            <a:pPr>
              <a:lnSpc>
                <a:spcPct val="150000"/>
              </a:lnSpc>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Non-linearity:</a:t>
            </a:r>
            <a:r>
              <a:rPr lang="en-US" sz="2800" dirty="0">
                <a:latin typeface="Times New Roman" panose="02020603050405020304" pitchFamily="18" charset="0"/>
                <a:cs typeface="Times New Roman" panose="02020603050405020304" pitchFamily="18" charset="0"/>
              </a:rPr>
              <a:t> Use nonlinear S-boxes to resist linear/differential cryptanalysis.</a:t>
            </a:r>
          </a:p>
          <a:p>
            <a:pPr>
              <a:lnSpc>
                <a:spcPct val="150000"/>
              </a:lnSpc>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Avalanche Effect:</a:t>
            </a:r>
            <a:r>
              <a:rPr lang="en-US" sz="2800" dirty="0">
                <a:latin typeface="Times New Roman" panose="02020603050405020304" pitchFamily="18" charset="0"/>
                <a:cs typeface="Times New Roman" panose="02020603050405020304" pitchFamily="18" charset="0"/>
              </a:rPr>
              <a:t> A single bit change in input should flip ~50% of the output bits after a few rounds.</a:t>
            </a:r>
          </a:p>
          <a:p>
            <a:pPr>
              <a:lnSpc>
                <a:spcPct val="150000"/>
              </a:lnSpc>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Balanced Mixing:</a:t>
            </a:r>
            <a:r>
              <a:rPr lang="en-US" sz="2800" dirty="0">
                <a:latin typeface="Times New Roman" panose="02020603050405020304" pitchFamily="18" charset="0"/>
                <a:cs typeface="Times New Roman" panose="02020603050405020304" pitchFamily="18" charset="0"/>
              </a:rPr>
              <a:t> Substitution + permutation ensure strong bit mixing.</a:t>
            </a:r>
          </a:p>
          <a:p>
            <a:pPr>
              <a:lnSpc>
                <a:spcPct val="150000"/>
              </a:lnSpc>
            </a:pP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7670722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A0911-D871-E152-2688-82C1E61610EC}"/>
              </a:ext>
            </a:extLst>
          </p:cNvPr>
          <p:cNvSpPr>
            <a:spLocks noGrp="1"/>
          </p:cNvSpPr>
          <p:nvPr>
            <p:ph type="title"/>
          </p:nvPr>
        </p:nvSpPr>
        <p:spPr>
          <a:xfrm>
            <a:off x="657224" y="499533"/>
            <a:ext cx="10772775" cy="876983"/>
          </a:xfrm>
        </p:spPr>
        <p:txBody>
          <a:bodyPr/>
          <a:lstStyle/>
          <a:p>
            <a:r>
              <a:rPr lang="en-US" dirty="0"/>
              <a:t>Contd..</a:t>
            </a:r>
            <a:endParaRPr lang="en-IN" dirty="0"/>
          </a:p>
        </p:txBody>
      </p:sp>
      <p:sp>
        <p:nvSpPr>
          <p:cNvPr id="3" name="Content Placeholder 2">
            <a:extLst>
              <a:ext uri="{FF2B5EF4-FFF2-40B4-BE49-F238E27FC236}">
                <a16:creationId xmlns:a16="http://schemas.microsoft.com/office/drawing/2014/main" id="{37931C51-889C-011F-BD73-5DB057142D5F}"/>
              </a:ext>
            </a:extLst>
          </p:cNvPr>
          <p:cNvSpPr>
            <a:spLocks noGrp="1"/>
          </p:cNvSpPr>
          <p:nvPr>
            <p:ph idx="1"/>
          </p:nvPr>
        </p:nvSpPr>
        <p:spPr>
          <a:xfrm>
            <a:off x="676656" y="1533832"/>
            <a:ext cx="10753725" cy="4244033"/>
          </a:xfrm>
        </p:spPr>
        <p:txBody>
          <a:bodyPr/>
          <a:lstStyle/>
          <a:p>
            <a:pPr algn="just">
              <a:lnSpc>
                <a:spcPct val="150000"/>
              </a:lnSpc>
            </a:pPr>
            <a:r>
              <a:rPr lang="en-US" sz="2800" b="1" dirty="0">
                <a:latin typeface="Times New Roman" panose="02020603050405020304" pitchFamily="18" charset="0"/>
                <a:cs typeface="Times New Roman" panose="02020603050405020304" pitchFamily="18" charset="0"/>
              </a:rPr>
              <a:t>Substitution–Permutation Network (SPN) and Feistel Structure</a:t>
            </a:r>
          </a:p>
          <a:p>
            <a:pPr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SPN:</a:t>
            </a:r>
            <a:r>
              <a:rPr lang="en-US" dirty="0">
                <a:latin typeface="Times New Roman" panose="02020603050405020304" pitchFamily="18" charset="0"/>
                <a:cs typeface="Times New Roman" panose="02020603050405020304" pitchFamily="18" charset="0"/>
              </a:rPr>
              <a:t> Uses repeated rounds of S-boxes (nonlinear substitution) and P-boxes (permutation). Example: AES.</a:t>
            </a:r>
          </a:p>
          <a:p>
            <a:pPr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Feistel Structure:</a:t>
            </a:r>
            <a:r>
              <a:rPr lang="en-US" dirty="0">
                <a:latin typeface="Times New Roman" panose="02020603050405020304" pitchFamily="18" charset="0"/>
                <a:cs typeface="Times New Roman" panose="02020603050405020304" pitchFamily="18" charset="0"/>
              </a:rPr>
              <a:t> Splits data into halves; one half is transformed with a round function and combined with the other half. Allows easy decryption. Example: DES.</a:t>
            </a:r>
          </a:p>
          <a:p>
            <a:pPr algn="just">
              <a:lnSpc>
                <a:spcPct val="150000"/>
              </a:lnSpc>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3764899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798E84D-2715-92F7-3DD9-7EE0EFBA10E3}"/>
              </a:ext>
            </a:extLst>
          </p:cNvPr>
          <p:cNvSpPr>
            <a:spLocks noGrp="1"/>
          </p:cNvSpPr>
          <p:nvPr>
            <p:ph idx="1"/>
          </p:nvPr>
        </p:nvSpPr>
        <p:spPr>
          <a:xfrm>
            <a:off x="676656" y="373626"/>
            <a:ext cx="10974570" cy="6253316"/>
          </a:xfrm>
        </p:spPr>
        <p:txBody>
          <a:bodyPr>
            <a:normAutofit fontScale="85000" lnSpcReduction="10000"/>
          </a:bodyPr>
          <a:lstStyle/>
          <a:p>
            <a:pPr algn="just">
              <a:lnSpc>
                <a:spcPct val="150000"/>
              </a:lnSpc>
            </a:pPr>
            <a:r>
              <a:rPr lang="en-US" b="1" dirty="0">
                <a:latin typeface="Times New Roman" panose="02020603050405020304" pitchFamily="18" charset="0"/>
                <a:cs typeface="Times New Roman" panose="02020603050405020304" pitchFamily="18" charset="0"/>
              </a:rPr>
              <a:t>Key Generation Algorithm (Key Schedule)</a:t>
            </a:r>
          </a:p>
          <a:p>
            <a:pPr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Determines how </a:t>
            </a:r>
            <a:r>
              <a:rPr lang="en-US" b="1" dirty="0">
                <a:latin typeface="Times New Roman" panose="02020603050405020304" pitchFamily="18" charset="0"/>
                <a:cs typeface="Times New Roman" panose="02020603050405020304" pitchFamily="18" charset="0"/>
              </a:rPr>
              <a:t>round subkeys</a:t>
            </a:r>
            <a:r>
              <a:rPr lang="en-US" dirty="0">
                <a:latin typeface="Times New Roman" panose="02020603050405020304" pitchFamily="18" charset="0"/>
                <a:cs typeface="Times New Roman" panose="02020603050405020304" pitchFamily="18" charset="0"/>
              </a:rPr>
              <a:t> are derived from the main cipher key.</a:t>
            </a:r>
          </a:p>
          <a:p>
            <a:pPr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Principles:</a:t>
            </a:r>
          </a:p>
          <a:p>
            <a:pPr marL="742950" lvl="1" indent="-28575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Each round key should be different</a:t>
            </a:r>
            <a:r>
              <a:rPr lang="en-US" dirty="0">
                <a:latin typeface="Times New Roman" panose="02020603050405020304" pitchFamily="18" charset="0"/>
                <a:cs typeface="Times New Roman" panose="02020603050405020304" pitchFamily="18" charset="0"/>
              </a:rPr>
              <a:t> and appear independent of the others.</a:t>
            </a:r>
          </a:p>
          <a:p>
            <a:pPr marL="742950" lvl="1"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Small changes in the main key → large changes in round keys (avalanche effect).</a:t>
            </a:r>
          </a:p>
          <a:p>
            <a:pPr marL="742950" lvl="1"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Must prevent related-key attacks (where knowledge of relationships between keys helps cryptanalysis).</a:t>
            </a:r>
          </a:p>
          <a:p>
            <a:pPr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Should be efficient (not dominate overall encryption time).</a:t>
            </a:r>
          </a:p>
          <a:p>
            <a:pPr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Examples:</a:t>
            </a:r>
          </a:p>
          <a:p>
            <a:pPr marL="742950" lvl="1" indent="-28575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DES:</a:t>
            </a:r>
            <a:r>
              <a:rPr lang="en-US" dirty="0">
                <a:latin typeface="Times New Roman" panose="02020603050405020304" pitchFamily="18" charset="0"/>
                <a:cs typeface="Times New Roman" panose="02020603050405020304" pitchFamily="18" charset="0"/>
              </a:rPr>
              <a:t> shifts and permutations on the key.</a:t>
            </a:r>
          </a:p>
          <a:p>
            <a:pPr marL="742950" lvl="1" indent="-28575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AES:</a:t>
            </a:r>
            <a:r>
              <a:rPr lang="en-US" dirty="0">
                <a:latin typeface="Times New Roman" panose="02020603050405020304" pitchFamily="18" charset="0"/>
                <a:cs typeface="Times New Roman" panose="02020603050405020304" pitchFamily="18" charset="0"/>
              </a:rPr>
              <a:t> uses Rijndael key schedule with byte substitution, rotation, and XOR with round constants.</a:t>
            </a:r>
          </a:p>
          <a:p>
            <a:pPr algn="just"/>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8363236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1F3F47E-20EA-5C4F-DECA-D98419455AE3}"/>
              </a:ext>
            </a:extLst>
          </p:cNvPr>
          <p:cNvSpPr>
            <a:spLocks noGrp="1"/>
          </p:cNvSpPr>
          <p:nvPr>
            <p:ph idx="1"/>
          </p:nvPr>
        </p:nvSpPr>
        <p:spPr>
          <a:xfrm>
            <a:off x="676656" y="569167"/>
            <a:ext cx="10753725" cy="5756987"/>
          </a:xfrm>
        </p:spPr>
        <p:txBody>
          <a:bodyPr/>
          <a:lstStyle/>
          <a:p>
            <a:endParaRPr lang="en-US" dirty="0"/>
          </a:p>
          <a:p>
            <a:endParaRPr lang="en-US" dirty="0"/>
          </a:p>
          <a:p>
            <a:endParaRPr lang="en-US" dirty="0"/>
          </a:p>
          <a:p>
            <a:pPr algn="ctr"/>
            <a:r>
              <a:rPr lang="en-US" sz="13800" i="1" dirty="0">
                <a:latin typeface="Bodoni MT" panose="02070603080606020203" pitchFamily="18" charset="0"/>
              </a:rPr>
              <a:t>Thank You </a:t>
            </a:r>
            <a:endParaRPr lang="en-IN" sz="13800" i="1" dirty="0">
              <a:latin typeface="Bodoni MT" panose="02070603080606020203" pitchFamily="18" charset="0"/>
            </a:endParaRPr>
          </a:p>
        </p:txBody>
      </p:sp>
    </p:spTree>
    <p:extLst>
      <p:ext uri="{BB962C8B-B14F-4D97-AF65-F5344CB8AC3E}">
        <p14:creationId xmlns:p14="http://schemas.microsoft.com/office/powerpoint/2010/main" val="160083666"/>
      </p:ext>
    </p:extLst>
  </p:cSld>
  <p:clrMapOvr>
    <a:masterClrMapping/>
  </p:clrMapOvr>
</p:sld>
</file>

<file path=ppt/theme/theme1.xml><?xml version="1.0" encoding="utf-8"?>
<a:theme xmlns:a="http://schemas.openxmlformats.org/drawingml/2006/main" name="Metropolitan">
  <a:themeElements>
    <a:clrScheme name="Metropolitan">
      <a:dk1>
        <a:sysClr val="windowText" lastClr="000000"/>
      </a:dk1>
      <a:lt1>
        <a:sysClr val="window" lastClr="FFFFFF"/>
      </a:lt1>
      <a:dk2>
        <a:srgbClr val="162F33"/>
      </a:dk2>
      <a:lt2>
        <a:srgbClr val="EAF0E0"/>
      </a:lt2>
      <a:accent1>
        <a:srgbClr val="50B4C8"/>
      </a:accent1>
      <a:accent2>
        <a:srgbClr val="A8B97F"/>
      </a:accent2>
      <a:accent3>
        <a:srgbClr val="9B9256"/>
      </a:accent3>
      <a:accent4>
        <a:srgbClr val="657689"/>
      </a:accent4>
      <a:accent5>
        <a:srgbClr val="7A855D"/>
      </a:accent5>
      <a:accent6>
        <a:srgbClr val="84AC9D"/>
      </a:accent6>
      <a:hlink>
        <a:srgbClr val="2370CD"/>
      </a:hlink>
      <a:folHlink>
        <a:srgbClr val="877589"/>
      </a:folHlink>
    </a:clrScheme>
    <a:fontScheme name="Metropolitan">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Metropolitan">
      <a:fillStyleLst>
        <a:solidFill>
          <a:schemeClr val="phClr"/>
        </a:solidFill>
        <a:gradFill rotWithShape="1">
          <a:gsLst>
            <a:gs pos="0">
              <a:schemeClr val="phClr">
                <a:tint val="70000"/>
                <a:satMod val="100000"/>
                <a:lumMod val="110000"/>
              </a:schemeClr>
            </a:gs>
            <a:gs pos="50000">
              <a:schemeClr val="phClr">
                <a:tint val="75000"/>
                <a:satMod val="101000"/>
                <a:lumMod val="105000"/>
              </a:schemeClr>
            </a:gs>
            <a:gs pos="100000">
              <a:schemeClr val="phClr">
                <a:tint val="82000"/>
                <a:satMod val="104000"/>
                <a:lumMod val="105000"/>
              </a:schemeClr>
            </a:gs>
          </a:gsLst>
          <a:lin ang="2700000" scaled="0"/>
        </a:gradFill>
        <a:gradFill rotWithShape="1">
          <a:gsLst>
            <a:gs pos="0">
              <a:schemeClr val="phClr">
                <a:tint val="97000"/>
                <a:satMod val="100000"/>
                <a:lumMod val="102000"/>
              </a:schemeClr>
            </a:gs>
            <a:gs pos="50000">
              <a:schemeClr val="phClr">
                <a:shade val="100000"/>
                <a:satMod val="100000"/>
                <a:lumMod val="100000"/>
              </a:schemeClr>
            </a:gs>
            <a:gs pos="100000">
              <a:schemeClr val="phClr">
                <a:shade val="80000"/>
                <a:satMod val="100000"/>
                <a:lumMod val="99000"/>
              </a:schemeClr>
            </a:gs>
          </a:gsLst>
          <a:lin ang="27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solidFill>
          <a:schemeClr val="phClr">
            <a:shade val="95000"/>
            <a:satMod val="170000"/>
          </a:schemeClr>
        </a:solidFill>
      </a:bgFillStyleLst>
    </a:fmtScheme>
  </a:themeElements>
  <a:objectDefaults/>
  <a:extraClrSchemeLst/>
  <a:extLst>
    <a:ext uri="{05A4C25C-085E-4340-85A3-A5531E510DB2}">
      <thm15:themeFamily xmlns:thm15="http://schemas.microsoft.com/office/thememl/2012/main" name="Metropolitan" id="{4C5440D6-04D2-4954-96CF-F251137069B2}" vid="{79CFCA13-9412-4290-BB4B-85112F88857B}"/>
    </a:ext>
  </a:extLst>
</a:theme>
</file>

<file path=docProps/app.xml><?xml version="1.0" encoding="utf-8"?>
<Properties xmlns="http://schemas.openxmlformats.org/officeDocument/2006/extended-properties" xmlns:vt="http://schemas.openxmlformats.org/officeDocument/2006/docPropsVTypes">
  <Template>Metropolitan</Template>
  <TotalTime>2297</TotalTime>
  <Words>4166</Words>
  <Application>Microsoft Office PowerPoint</Application>
  <PresentationFormat>Widescreen</PresentationFormat>
  <Paragraphs>247</Paragraphs>
  <Slides>53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53</vt:i4>
      </vt:variant>
    </vt:vector>
  </HeadingPairs>
  <TitlesOfParts>
    <vt:vector size="59" baseType="lpstr">
      <vt:lpstr>Arial</vt:lpstr>
      <vt:lpstr>Bodoni MT</vt:lpstr>
      <vt:lpstr>Calibri Light</vt:lpstr>
      <vt:lpstr>Times New Roman</vt:lpstr>
      <vt:lpstr>Wingdings</vt:lpstr>
      <vt:lpstr>Metropolitan</vt:lpstr>
      <vt:lpstr>Module-1</vt:lpstr>
      <vt:lpstr>Introduction </vt:lpstr>
      <vt:lpstr>Network Model </vt:lpstr>
      <vt:lpstr>Network Model </vt:lpstr>
      <vt:lpstr>Contd..</vt:lpstr>
      <vt:lpstr>Kinds of Threats </vt:lpstr>
      <vt:lpstr>Examples…</vt:lpstr>
      <vt:lpstr>Chapter 3-Classical Encryption Techniques  </vt:lpstr>
      <vt:lpstr>Cryptography </vt:lpstr>
      <vt:lpstr>A symmetric Encryption Scheme</vt:lpstr>
      <vt:lpstr>Simplified Model of Symmetric Encryption</vt:lpstr>
      <vt:lpstr>Contd..</vt:lpstr>
      <vt:lpstr>There are two requirements for secure use of conventional encryption:</vt:lpstr>
      <vt:lpstr>Model of Symmetric Cryptosystem</vt:lpstr>
      <vt:lpstr>Cryptanalysis and Brute-Force Attack</vt:lpstr>
      <vt:lpstr>PowerPoint Presentation</vt:lpstr>
      <vt:lpstr>Encryption Scheme</vt:lpstr>
      <vt:lpstr>A brute-force attack</vt:lpstr>
      <vt:lpstr>Substitution</vt:lpstr>
      <vt:lpstr>A numerical equivalent to each letter:</vt:lpstr>
      <vt:lpstr>Formula</vt:lpstr>
      <vt:lpstr>Monoalphabetic Cipher</vt:lpstr>
      <vt:lpstr>Contd..</vt:lpstr>
      <vt:lpstr>Play Fair Cipher </vt:lpstr>
      <vt:lpstr>Steps</vt:lpstr>
      <vt:lpstr>PowerPoint Presentation</vt:lpstr>
      <vt:lpstr>Hill Cipher</vt:lpstr>
      <vt:lpstr>polyalphabetic substitution cipher</vt:lpstr>
      <vt:lpstr>Vernam Cipher</vt:lpstr>
      <vt:lpstr>One Time Pad</vt:lpstr>
      <vt:lpstr>Contd…</vt:lpstr>
      <vt:lpstr>Contd..</vt:lpstr>
      <vt:lpstr>Stegnography </vt:lpstr>
      <vt:lpstr>Contd..</vt:lpstr>
      <vt:lpstr>Contd..</vt:lpstr>
      <vt:lpstr>Contd..</vt:lpstr>
      <vt:lpstr>Chapter 4: Block Ciphers and Data Encryption Standard</vt:lpstr>
      <vt:lpstr>PowerPoint Presentation</vt:lpstr>
      <vt:lpstr>Feistel Cipher</vt:lpstr>
      <vt:lpstr>PowerPoint Presentation</vt:lpstr>
      <vt:lpstr>Diffusion and Confusion</vt:lpstr>
      <vt:lpstr>Contd..</vt:lpstr>
      <vt:lpstr>Substitution &amp; Permutation</vt:lpstr>
      <vt:lpstr>Feistel Encryption and Decryption (16 rounds)</vt:lpstr>
      <vt:lpstr>Data Encryption Standard-General Depiction of DES Encryption Algorithm </vt:lpstr>
      <vt:lpstr>Example</vt:lpstr>
      <vt:lpstr> Strength of DES </vt:lpstr>
      <vt:lpstr>Block cipher design principles </vt:lpstr>
      <vt:lpstr>Contd..</vt:lpstr>
      <vt:lpstr>Contd..</vt:lpstr>
      <vt:lpstr>Contd..</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Indu B</dc:creator>
  <cp:lastModifiedBy>Indu B</cp:lastModifiedBy>
  <cp:revision>17</cp:revision>
  <dcterms:created xsi:type="dcterms:W3CDTF">2025-07-30T04:22:51Z</dcterms:created>
  <dcterms:modified xsi:type="dcterms:W3CDTF">2025-09-02T04:58:46Z</dcterms:modified>
</cp:coreProperties>
</file>